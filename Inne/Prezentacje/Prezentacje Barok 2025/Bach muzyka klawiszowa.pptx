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3JXiPEkbJZOt7ETuXQUvFJecL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Relationship Id="rId21" Type="http://schemas.openxmlformats.org/officeDocument/2006/relationships/customXml" Target="../customXml/item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7" Type="http://schemas.openxmlformats.org/officeDocument/2006/relationships/slide" Target="slides/slide3.xml"/><Relationship Id="rId20" Type="http://customschemas.google.com/relationships/presentationmetadata" Target="metadata"/><Relationship Id="rId2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1" Type="http://schemas.openxmlformats.org/officeDocument/2006/relationships/theme" Target="theme/theme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5" Type="http://schemas.openxmlformats.org/officeDocument/2006/relationships/slide" Target="slides/slide1.xml"/><Relationship Id="rId23" Type="http://schemas.openxmlformats.org/officeDocument/2006/relationships/customXml" Target="../customXml/item3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68eb3931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68eb393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68eb3931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68eb3931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68eb3931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68eb3931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4f54d74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4f54d74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68eb3931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68eb3931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68eb39310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68eb3931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68eb39310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68eb3931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68eb39310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368eb3931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68eb39310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68eb3931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7S2pm1g70DI" TargetMode="External"/><Relationship Id="rId4" Type="http://schemas.openxmlformats.org/officeDocument/2006/relationships/hyperlink" Target="https://www.youtube.com/watch?v=jNEFrryE5P0" TargetMode="External"/><Relationship Id="rId10" Type="http://schemas.openxmlformats.org/officeDocument/2006/relationships/hyperlink" Target="https://www.teoria.com/en/articles/kdf/" TargetMode="External"/><Relationship Id="rId9" Type="http://schemas.openxmlformats.org/officeDocument/2006/relationships/hyperlink" Target="https://www.youtube.com/watch?v=WL17A094ezY" TargetMode="External"/><Relationship Id="rId5" Type="http://schemas.openxmlformats.org/officeDocument/2006/relationships/hyperlink" Target="https://www.youtube.com/watch?v=1AtOPiG5jyk&amp;t=0s" TargetMode="External"/><Relationship Id="rId6" Type="http://schemas.openxmlformats.org/officeDocument/2006/relationships/hyperlink" Target="https://www.youtube.com/watch?v=emkJ0A7IfkY" TargetMode="External"/><Relationship Id="rId7" Type="http://schemas.openxmlformats.org/officeDocument/2006/relationships/hyperlink" Target="https://www.youtube.com/watch?v=XcsfDxojdV8" TargetMode="External"/><Relationship Id="rId8" Type="http://schemas.openxmlformats.org/officeDocument/2006/relationships/hyperlink" Target="https://www.youtube.com/watch?v=4uX-5HOx2W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ixFCKKIMvkk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l-PL"/>
              <a:t>Muzyka J.S. Bacha na instrumenty klawiszowe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l-PL"/>
              <a:t>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Etapy życia i pracy Bacha (1685-1750)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1695-1700 Dzieciństwo u brata Johanna Christopha Bacha – organisty w Ohrdruf (kopiowanie utworów mistrzów XVII-wiecznych)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1700-1703 Luneburg, nauka w gimnazjum i praca w chórze kościelnym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I okres – wczesny – Arnstadt i Mühlhausen (1703-1708). Stanowiska organisty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II okres – Weimar (1708-1717), organista dworski, potem koncertmistrz orkiestry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l-PL"/>
              <a:t>III okres – Köthen (1717-1723), kapelmistrz i kierownik muzyki kameralnej na dworze (dwór kalwiński, więc nie komponował muzyki kościelnej liturgicznej)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4294967295" type="body"/>
          </p:nvPr>
        </p:nvSpPr>
        <p:spPr>
          <a:xfrm>
            <a:off x="0" y="509666"/>
            <a:ext cx="10515600" cy="5667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IV okres – Lipsk, kantor u św. Tomasza  (1723-ok.1745)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V okres – ostatnie lata życia, dzieła abstrakcyjne, skrajnie konstruktywistyczne, będące świadectwem jego najwyższego mistrzostwa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Gatunki muzyki klawiszowej tworzone przez Bacha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swobodne utwory improwizacyjne; preludium, toccata, fantazja;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ścisłe gatunki imitacyjne: fuga, ricercar, canzona, capriccio, fantasia, inwencja;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złożone: preludium i fuga, toccata i fuga;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wieloczęściowe: sonata, suita-pratita, ouverture-sinfonia, concerto, wariacje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opracowania chorału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68eb39310_0_0"/>
          <p:cNvSpPr txBox="1"/>
          <p:nvPr>
            <p:ph type="title"/>
          </p:nvPr>
        </p:nvSpPr>
        <p:spPr>
          <a:xfrm>
            <a:off x="838200" y="365125"/>
            <a:ext cx="10515600" cy="92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Wzorce, z których czerpał </a:t>
            </a:r>
            <a:endParaRPr/>
          </a:p>
        </p:txBody>
      </p:sp>
      <p:sp>
        <p:nvSpPr>
          <p:cNvPr id="108" name="Google Shape;108;g3368eb39310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-"/>
            </a:pPr>
            <a:r>
              <a:rPr lang="pl-PL" sz="3400"/>
              <a:t>tradycje niemieckiej muzyki klawiszowej (gł. organowej): Froberger (XVII w., uczeń Frescobaldiego, twórca “kanonu suity”: allemande, courante, sarabande, gigue); przełom XVII/XVIII: Buxtehude, Pachelbel (różne typy organowych opracowań chorału: partita, fantazja. fuga, preludium); </a:t>
            </a:r>
            <a:endParaRPr sz="3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pl-PL" sz="3400"/>
              <a:t>Kuhnau - klawesyn, Biblische Historien - cykl sonat programowych; niem. klawesyniści przenoszą na grunt mu. klawesynowej włoską sonatę i francuską uwerturę</a:t>
            </a:r>
            <a:endParaRPr sz="3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68eb39310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Wzorce: style narodowe (Bukofzer)</a:t>
            </a:r>
            <a:endParaRPr/>
          </a:p>
        </p:txBody>
      </p:sp>
      <p:sp>
        <p:nvSpPr>
          <p:cNvPr id="114" name="Google Shape;114;g3368eb39310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styl </a:t>
            </a:r>
            <a:r>
              <a:rPr lang="pl-PL"/>
              <a:t>włoski: harmonika funkcyjna, styl concerto, forma koncertu i sonaty w muzyce instrumentalnej;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styl francuski: tendencje kolorystyczne i programowe, dyscyplina instrumentacyjna (Lully), uwertura i suita, styl brise (faktura o swobodnym układzie głosowym)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-PL"/>
              <a:t>styl niemiecki: eksponowanie masywnej harmoniki, predylekcja do faktury kontrapunktycznej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Jednym słowem: Włochy - dramatyzm, Francja - subtelna nastrojowość, Niemcy - patos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68eb39310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Sława wybitnego organisty i klawesynisty - działalność pedagogiczna</a:t>
            </a:r>
            <a:endParaRPr/>
          </a:p>
        </p:txBody>
      </p:sp>
      <p:sp>
        <p:nvSpPr>
          <p:cNvPr id="120" name="Google Shape;120;g3368eb39310_0_10"/>
          <p:cNvSpPr txBox="1"/>
          <p:nvPr>
            <p:ph idx="1" type="body"/>
          </p:nvPr>
        </p:nvSpPr>
        <p:spPr>
          <a:xfrm>
            <a:off x="838200" y="2322825"/>
            <a:ext cx="10515600" cy="385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spcBef>
                <a:spcPts val="1000"/>
              </a:spcBef>
              <a:spcAft>
                <a:spcPts val="0"/>
              </a:spcAft>
              <a:buSzPts val="2700"/>
              <a:buChar char="-"/>
            </a:pPr>
            <a:r>
              <a:rPr lang="pl-PL" sz="3700"/>
              <a:t>1722 - I tom </a:t>
            </a:r>
            <a:r>
              <a:rPr i="1" lang="pl-PL" sz="3700"/>
              <a:t>Das wohltemperierte Klavier</a:t>
            </a:r>
            <a:r>
              <a:rPr lang="pl-PL" sz="3700"/>
              <a:t> - 24 preludia i fugi we wszystkich tonacjach;</a:t>
            </a:r>
            <a:endParaRPr sz="3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pl-PL" sz="3700"/>
              <a:t>1723 Inwencje 2-głosowe i Sinfonie 3-głosowe;</a:t>
            </a:r>
            <a:endParaRPr sz="3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pl-PL" sz="3700"/>
              <a:t>1744 II tom DWK</a:t>
            </a:r>
            <a:endParaRPr sz="3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l-PL"/>
              <a:t>Klavierübung (1731-1741)</a:t>
            </a:r>
            <a:endParaRPr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I część zawiera 6 partit,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 II Koncert włoski i Uwerturę francuską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III części Klavierübung kolekcje utworów organowych, w których demonstruje różne sposoby traktowania chorałowego c.f.: fugi chorałowe, fantazje chorałowe, i preludia chorałowe w stylu concerto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l-PL"/>
              <a:t>IV zawiera Wariacje Goldbergowskie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4f54d74c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2e4f54d74c2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 Passacaglia </a:t>
            </a: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https://www.youtube.com/watch?v=7S2pm1g70DI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Koncert włoski </a:t>
            </a:r>
            <a:r>
              <a:rPr lang="pl-PL" u="sng">
                <a:solidFill>
                  <a:schemeClr val="hlink"/>
                </a:solidFill>
                <a:hlinkClick r:id="rId4"/>
              </a:rPr>
              <a:t>https://www.youtube.com/watch?v=jNEFrryE5P0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Wariacje goldbergowskie </a:t>
            </a:r>
            <a:r>
              <a:rPr lang="pl-PL" u="sng">
                <a:solidFill>
                  <a:schemeClr val="hlink"/>
                </a:solidFill>
                <a:hlinkClick r:id="rId5"/>
              </a:rPr>
              <a:t>https://www.youtube.com/watch?v=1AtOPiG5jyk&amp;t=0s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Koncert a-moll na 4 klawesyny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u="sng">
                <a:solidFill>
                  <a:schemeClr val="hlink"/>
                </a:solidFill>
                <a:hlinkClick r:id="rId6"/>
              </a:rPr>
              <a:t>https://www.youtube.com/watch?v=emkJ0A7IfkY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Koncert klaw. d-moll </a:t>
            </a:r>
            <a:r>
              <a:rPr lang="pl-PL" u="sng">
                <a:solidFill>
                  <a:schemeClr val="hlink"/>
                </a:solidFill>
                <a:hlinkClick r:id="rId7"/>
              </a:rPr>
              <a:t>https://www.youtube.com/watch?v=XcsfDxojdV8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Kunst der Fuge Guld </a:t>
            </a:r>
            <a:r>
              <a:rPr lang="pl-PL" u="sng">
                <a:solidFill>
                  <a:schemeClr val="hlink"/>
                </a:solidFill>
                <a:hlinkClick r:id="rId8"/>
              </a:rPr>
              <a:t>https://www.youtube.com/watch?v=4uX-5HOx2Wc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u="sng">
                <a:solidFill>
                  <a:schemeClr val="hlink"/>
                </a:solidFill>
                <a:hlinkClick r:id="rId9"/>
              </a:rPr>
              <a:t>https://www.youtube.com/watch?v=WL17A094ezY</a:t>
            </a:r>
            <a:r>
              <a:rPr lang="pl-PL"/>
              <a:t>  saksofony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u="sng">
                <a:solidFill>
                  <a:schemeClr val="hlink"/>
                </a:solidFill>
                <a:hlinkClick r:id="rId10"/>
              </a:rPr>
              <a:t>https://www.teoria.com/en/articles/kdf/</a:t>
            </a:r>
            <a:r>
              <a:rPr lang="pl-PL"/>
              <a:t>  analiza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idx="4294967295" type="title"/>
          </p:nvPr>
        </p:nvSpPr>
        <p:spPr>
          <a:xfrm>
            <a:off x="0" y="365125"/>
            <a:ext cx="10515600" cy="5451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l-PL"/>
              <a:t>Bach w muzyce na instrumenty klawiszowe dokonuje syntezy stylów: niemieckiego, francuskiego i włoskiego. Wykorzystuje zdobycze gatunków przeznaczonych na inne instrumenty. Jest twórcą koncertu klawesynowego jako gatunku.</a:t>
            </a:r>
            <a:br>
              <a:rPr lang="pl-PL"/>
            </a:br>
            <a:r>
              <a:rPr lang="pl-PL"/>
              <a:t>Wyraźnie rozgranicza utwory komponowane  na organy i klawesyn – wcześniej przeważnie panowała wymienność.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68eb39310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800"/>
              <a:t>Fuga - ścisła forma kontrapunktyczna - </a:t>
            </a:r>
            <a:r>
              <a:rPr lang="pl-PL" sz="3800"/>
              <a:t>współczynniki</a:t>
            </a:r>
            <a:endParaRPr sz="3800"/>
          </a:p>
        </p:txBody>
      </p:sp>
      <p:sp>
        <p:nvSpPr>
          <p:cNvPr id="143" name="Google Shape;143;g3368eb39310_0_18"/>
          <p:cNvSpPr txBox="1"/>
          <p:nvPr>
            <p:ph idx="1" type="body"/>
          </p:nvPr>
        </p:nvSpPr>
        <p:spPr>
          <a:xfrm>
            <a:off x="838200" y="1417325"/>
            <a:ext cx="10515600" cy="470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-"/>
            </a:pPr>
            <a:r>
              <a:rPr lang="pl-PL" sz="3300"/>
              <a:t>temat: </a:t>
            </a:r>
            <a:r>
              <a:rPr lang="pl-PL" sz="3300"/>
              <a:t>zawiera</a:t>
            </a:r>
            <a:r>
              <a:rPr lang="pl-PL" sz="3300"/>
              <a:t> motyw czołowy, ew. rozwinięcie i kodę; typy tematu: attaca, soggetto, andamento;</a:t>
            </a:r>
            <a:endParaRPr sz="3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l-PL" sz="3300"/>
              <a:t>dux i comes - temat i odpowiedź: realna i tomalna</a:t>
            </a:r>
            <a:endParaRPr sz="3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l-PL" sz="3300"/>
              <a:t> kontrapunkt: stały, o cechach stałości, swobodny;</a:t>
            </a:r>
            <a:endParaRPr sz="3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l-PL" sz="3300"/>
              <a:t>łącznik: wewnętrzny i zewnętrzny;</a:t>
            </a:r>
            <a:endParaRPr sz="3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l-PL" sz="3300"/>
              <a:t>(epizod)</a:t>
            </a:r>
            <a:endParaRPr sz="3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l-PL" sz="3300"/>
              <a:t>ekspozycja - pierwsze przeprowadzenie tematu przez głosy: kompletna, niekompletna, nadkompletna;</a:t>
            </a:r>
            <a:endParaRPr sz="3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l-PL" sz="3300"/>
              <a:t>kolejne </a:t>
            </a:r>
            <a:r>
              <a:rPr b="1" lang="pl-PL" sz="3300"/>
              <a:t>przeprowadzenia</a:t>
            </a:r>
            <a:r>
              <a:rPr lang="pl-PL" sz="3300"/>
              <a:t>, zawierające </a:t>
            </a:r>
            <a:r>
              <a:rPr b="1" lang="pl-PL" sz="3300"/>
              <a:t>pokazy </a:t>
            </a:r>
            <a:r>
              <a:rPr lang="pl-PL" sz="3300"/>
              <a:t>tematu;</a:t>
            </a:r>
            <a:endParaRPr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-"/>
            </a:pPr>
            <a:r>
              <a:rPr lang="pl-PL" sz="3300"/>
              <a:t>stretto, stosowanie środków polifonicznych;</a:t>
            </a:r>
            <a:endParaRPr sz="3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l-PL" sz="3300"/>
              <a:t>koda, nuta pedałowa</a:t>
            </a:r>
            <a:endParaRPr sz="3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68eb39310_0_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Różne typy fug - podział ze względu na:</a:t>
            </a:r>
            <a:endParaRPr/>
          </a:p>
        </p:txBody>
      </p:sp>
      <p:sp>
        <p:nvSpPr>
          <p:cNvPr id="149" name="Google Shape;149;g3368eb39310_0_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63696" lvl="0" marL="457200" rtl="0" algn="l">
              <a:spcBef>
                <a:spcPts val="1000"/>
              </a:spcBef>
              <a:spcAft>
                <a:spcPts val="0"/>
              </a:spcAft>
              <a:buSzPct val="69696"/>
              <a:buChar char="-"/>
            </a:pPr>
            <a:r>
              <a:rPr lang="pl-PL" sz="3300"/>
              <a:t>liczbę głosów;</a:t>
            </a:r>
            <a:endParaRPr sz="3300"/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SzPct val="69696"/>
              <a:buChar char="-"/>
            </a:pPr>
            <a:r>
              <a:rPr lang="pl-PL" sz="3300"/>
              <a:t>aparat wykonawczy;</a:t>
            </a:r>
            <a:endParaRPr sz="3300"/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SzPct val="69696"/>
              <a:buChar char="-"/>
            </a:pPr>
            <a:r>
              <a:rPr lang="pl-PL" sz="3300"/>
              <a:t>liczbę tematów</a:t>
            </a:r>
            <a:endParaRPr sz="3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/>
              <a:t>Confiteor z Mszy h-moll </a:t>
            </a:r>
            <a:r>
              <a:rPr lang="pl-PL" u="sng">
                <a:solidFill>
                  <a:schemeClr val="hlink"/>
                </a:solidFill>
                <a:hlinkClick r:id="rId3"/>
              </a:rPr>
              <a:t>https://www.youtube.com/watch?v=ixFCKKIMvkk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68eb39310_0_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368eb39310_0_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68eb39310_0_37"/>
          <p:cNvSpPr txBox="1"/>
          <p:nvPr>
            <p:ph type="title"/>
          </p:nvPr>
        </p:nvSpPr>
        <p:spPr>
          <a:xfrm>
            <a:off x="838200" y="365125"/>
            <a:ext cx="10515600" cy="1356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Bach - ekonomia środków</a:t>
            </a:r>
            <a:endParaRPr/>
          </a:p>
        </p:txBody>
      </p:sp>
      <p:sp>
        <p:nvSpPr>
          <p:cNvPr id="165" name="Google Shape;165;g3368eb39310_0_37"/>
          <p:cNvSpPr txBox="1"/>
          <p:nvPr>
            <p:ph idx="1" type="body"/>
          </p:nvPr>
        </p:nvSpPr>
        <p:spPr>
          <a:xfrm>
            <a:off x="838200" y="1855475"/>
            <a:ext cx="10515600" cy="432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l-PL" sz="4000"/>
              <a:t>Fugi Bachowskie cechuje ekonomia środków, tzn. Bach tworzy współczynniki fugi wykorzystując ograniczoną liczbę motywów, które przetwarza za </a:t>
            </a:r>
            <a:r>
              <a:rPr lang="pl-PL" sz="4000"/>
              <a:t>pomocą pracy motywicznej i środków polifonicznych (augmentacji, diminucji, inwersji; ruch wsteczny - rzadko)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EA736F3E4807409FC2AD1DF131DC97" ma:contentTypeVersion="7" ma:contentTypeDescription="Utwórz nowy dokument." ma:contentTypeScope="" ma:versionID="2f65554e001a104de1e837ede77d9b54">
  <xsd:schema xmlns:xsd="http://www.w3.org/2001/XMLSchema" xmlns:xs="http://www.w3.org/2001/XMLSchema" xmlns:p="http://schemas.microsoft.com/office/2006/metadata/properties" xmlns:ns2="d69dc642-48f7-4e58-8e1f-5ae592413238" targetNamespace="http://schemas.microsoft.com/office/2006/metadata/properties" ma:root="true" ma:fieldsID="7eb54fb987e1b7a686c2de0228e15e3b" ns2:_="">
    <xsd:import namespace="d69dc642-48f7-4e58-8e1f-5ae5924132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9dc642-48f7-4e58-8e1f-5ae592413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FC521C-A7F8-4ED3-A62D-A19AAC3C0A5E}"/>
</file>

<file path=customXml/itemProps2.xml><?xml version="1.0" encoding="utf-8"?>
<ds:datastoreItem xmlns:ds="http://schemas.openxmlformats.org/officeDocument/2006/customXml" ds:itemID="{6C4AB18B-4DC3-4C7A-B76C-1EDED646A2A6}"/>
</file>

<file path=customXml/itemProps3.xml><?xml version="1.0" encoding="utf-8"?>
<ds:datastoreItem xmlns:ds="http://schemas.openxmlformats.org/officeDocument/2006/customXml" ds:itemID="{45690E8A-4A4A-492D-A4AA-9AE13CB1652C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Magdalena Walter-Mazur</dc:creator>
  <dcterms:created xsi:type="dcterms:W3CDTF">2023-05-30T07:22:16Z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0x010100F1EA736F3E4807409FC2AD1DF131DC97</vt:lpwstr>
  </property>
</Properties>
</file>