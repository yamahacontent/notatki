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metadata" ContentType="application/binary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custom-properties" Target="docProps/custom.xml"/><Relationship Id="rId2" Type="http://schemas.openxmlformats.org/officeDocument/2006/relationships/officeDocument" Target="ppt/presentation.xml"/><Relationship Id="rId1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y="6858000" cx="12192000"/>
  <p:notesSz cx="6858000" cy="9144000"/>
  <p:embeddedFontLst>
    <p:embeddedFont>
      <p:font typeface="Century Gothic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5" roundtripDataSignature="AMtx7mhfoYBzcCVrEqgxdDmSdolOWUlI6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customXml" Target="../customXml/item1.xml"/><Relationship Id="rId21" Type="http://schemas.openxmlformats.org/officeDocument/2006/relationships/font" Target="fonts/CenturyGothic-regular.fntdata"/><Relationship Id="rId3" Type="http://schemas.openxmlformats.org/officeDocument/2006/relationships/slideMaster" Target="slideMasters/slideMaster1.xml"/><Relationship Id="rId25" Type="http://customschemas.google.com/relationships/presentationmetadata" Target="meta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0" Type="http://schemas.openxmlformats.org/officeDocument/2006/relationships/slide" Target="slides/slide16.xml"/><Relationship Id="rId2" Type="http://schemas.openxmlformats.org/officeDocument/2006/relationships/presProps" Target="presProps.xml"/><Relationship Id="rId16" Type="http://schemas.openxmlformats.org/officeDocument/2006/relationships/slide" Target="slides/slide12.xml"/><Relationship Id="rId24" Type="http://schemas.openxmlformats.org/officeDocument/2006/relationships/font" Target="fonts/CenturyGothic-boldItalic.fntdata"/><Relationship Id="rId1" Type="http://schemas.openxmlformats.org/officeDocument/2006/relationships/theme" Target="theme/theme2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3" Type="http://schemas.openxmlformats.org/officeDocument/2006/relationships/font" Target="fonts/CenturyGothic-italic.fntdata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8" Type="http://schemas.openxmlformats.org/officeDocument/2006/relationships/customXml" Target="../customXml/item3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22" Type="http://schemas.openxmlformats.org/officeDocument/2006/relationships/font" Target="fonts/CenturyGothic-bold.fntdata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7" Type="http://schemas.openxmlformats.org/officeDocument/2006/relationships/customXml" Target="../customXml/item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4" name="Google Shape;104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0" name="Google Shape;110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6" name="Google Shape;116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2" name="Google Shape;122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4bffeaf436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g34bffeaf43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4bffeaf436_1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g34bffeaf436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4bffeaf436_1_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g34bffeaf436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4bffeaf436_1_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g34bffeaf436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4bffeaf436_1_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g34bffeaf436_1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ajd tytułowy" showMasterSp="0" type="title">
  <p:cSld name="TITLE">
    <p:bg>
      <p:bgPr>
        <a:gradFill>
          <a:gsLst>
            <a:gs pos="0">
              <a:srgbClr val="E1DBC9"/>
            </a:gs>
            <a:gs pos="77000">
              <a:srgbClr val="C8C1B0"/>
            </a:gs>
            <a:gs pos="100000">
              <a:srgbClr val="C0BAAA"/>
            </a:gs>
          </a:gsLst>
          <a:lin ang="5400000" scaled="0"/>
        </a:gra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rotWithShape="1">
            <a:blip r:embed="rId2">
              <a:alphaModFix amt="45000"/>
            </a:blip>
            <a:tile algn="tl" flip="none" tx="-44450" sx="85000" ty="38100" sy="85000"/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6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rotWithShape="0" algn="ctr">
              <a:srgbClr val="000000">
                <a:alpha val="6549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6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cap="sq" cmpd="sng" w="9525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6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" name="Google Shape;17;p6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18" name="Google Shape;18;p6"/>
            <p:cNvCxnSpPr/>
            <p:nvPr/>
          </p:nvCxnSpPr>
          <p:spPr>
            <a:xfrm>
              <a:off x="5318306" y="1386268"/>
              <a:ext cx="0" cy="640080"/>
            </a:xfrm>
            <a:prstGeom prst="straightConnector1">
              <a:avLst/>
            </a:prstGeom>
            <a:solidFill>
              <a:srgbClr val="262626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9" name="Google Shape;19;p6"/>
            <p:cNvCxnSpPr/>
            <p:nvPr/>
          </p:nvCxnSpPr>
          <p:spPr>
            <a:xfrm>
              <a:off x="6885637" y="1386268"/>
              <a:ext cx="0" cy="640080"/>
            </a:xfrm>
            <a:prstGeom prst="straightConnector1">
              <a:avLst/>
            </a:prstGeom>
            <a:solidFill>
              <a:srgbClr val="262626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" name="Google Shape;20;p6"/>
            <p:cNvCxnSpPr/>
            <p:nvPr/>
          </p:nvCxnSpPr>
          <p:spPr>
            <a:xfrm>
              <a:off x="5318306" y="2031563"/>
              <a:ext cx="1567331" cy="0"/>
            </a:xfrm>
            <a:prstGeom prst="straightConnector1">
              <a:avLst/>
            </a:prstGeom>
            <a:solidFill>
              <a:srgbClr val="262626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21" name="Google Shape;21;p6"/>
          <p:cNvSpPr txBox="1"/>
          <p:nvPr>
            <p:ph type="ctrTitle"/>
          </p:nvPr>
        </p:nvSpPr>
        <p:spPr>
          <a:xfrm>
            <a:off x="1561708" y="2091263"/>
            <a:ext cx="9068586" cy="25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7200"/>
              <a:buFont typeface="Century Gothic"/>
              <a:buNone/>
              <a:defRPr b="0" sz="7200" cap="non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6"/>
          <p:cNvSpPr txBox="1"/>
          <p:nvPr>
            <p:ph idx="1" type="subTitle"/>
          </p:nvPr>
        </p:nvSpPr>
        <p:spPr>
          <a:xfrm>
            <a:off x="1562100" y="4682062"/>
            <a:ext cx="9070848" cy="4572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23" name="Google Shape;23;p6"/>
          <p:cNvSpPr txBox="1"/>
          <p:nvPr>
            <p:ph idx="10" type="dt"/>
          </p:nvPr>
        </p:nvSpPr>
        <p:spPr>
          <a:xfrm>
            <a:off x="5318760" y="1341255"/>
            <a:ext cx="1554480" cy="5272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6"/>
          <p:cNvSpPr txBox="1"/>
          <p:nvPr>
            <p:ph idx="11" type="ftr"/>
          </p:nvPr>
        </p:nvSpPr>
        <p:spPr>
          <a:xfrm>
            <a:off x="1453896" y="5211060"/>
            <a:ext cx="5905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3F3F3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6"/>
          <p:cNvSpPr txBox="1"/>
          <p:nvPr>
            <p:ph idx="12" type="sldNum"/>
          </p:nvPr>
        </p:nvSpPr>
        <p:spPr>
          <a:xfrm>
            <a:off x="8606919" y="5212080"/>
            <a:ext cx="2111881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ytuł i zawartość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/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7"/>
          <p:cNvSpPr txBox="1"/>
          <p:nvPr>
            <p:ph idx="1" type="body"/>
          </p:nvPr>
        </p:nvSpPr>
        <p:spPr>
          <a:xfrm>
            <a:off x="1066800" y="2103120"/>
            <a:ext cx="10058400" cy="3931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800"/>
              <a:buChar char="◦"/>
              <a:defRPr/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29" name="Google Shape;29;p7"/>
          <p:cNvSpPr txBox="1"/>
          <p:nvPr>
            <p:ph idx="10" type="dt"/>
          </p:nvPr>
        </p:nvSpPr>
        <p:spPr>
          <a:xfrm>
            <a:off x="274320" y="6307672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7"/>
          <p:cNvSpPr txBox="1"/>
          <p:nvPr>
            <p:ph idx="11" type="ftr"/>
          </p:nvPr>
        </p:nvSpPr>
        <p:spPr>
          <a:xfrm>
            <a:off x="3489960" y="6307672"/>
            <a:ext cx="5212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10469880" y="6307672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ównanie" type="twoTxTwoObj">
  <p:cSld name="TWO_OBJECTS_WITH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0"/>
          <p:cNvSpPr txBox="1"/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0"/>
          <p:cNvSpPr txBox="1"/>
          <p:nvPr>
            <p:ph idx="1" type="body"/>
          </p:nvPr>
        </p:nvSpPr>
        <p:spPr>
          <a:xfrm>
            <a:off x="1069848" y="2074334"/>
            <a:ext cx="47548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b="0" sz="19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900"/>
              <a:buNone/>
              <a:defRPr b="1" sz="19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35" name="Google Shape;35;p10"/>
          <p:cNvSpPr txBox="1"/>
          <p:nvPr>
            <p:ph idx="2" type="body"/>
          </p:nvPr>
        </p:nvSpPr>
        <p:spPr>
          <a:xfrm>
            <a:off x="1069848" y="2755898"/>
            <a:ext cx="475488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800"/>
              <a:buChar char="◦"/>
              <a:defRPr sz="1800"/>
            </a:lvl1pPr>
            <a:lvl2pPr indent="-3302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◦"/>
              <a:defRPr sz="1600"/>
            </a:lvl2pPr>
            <a:lvl3pPr indent="-3175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3pPr>
            <a:lvl4pPr indent="-3175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4pPr>
            <a:lvl5pPr indent="-3175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5pPr>
            <a:lvl6pPr indent="-3175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6pPr>
            <a:lvl7pPr indent="-3175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7pPr>
            <a:lvl8pPr indent="-3175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8pPr>
            <a:lvl9pPr indent="-31750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9pPr>
          </a:lstStyle>
          <a:p/>
        </p:txBody>
      </p:sp>
      <p:sp>
        <p:nvSpPr>
          <p:cNvPr id="36" name="Google Shape;36;p10"/>
          <p:cNvSpPr txBox="1"/>
          <p:nvPr>
            <p:ph idx="3" type="body"/>
          </p:nvPr>
        </p:nvSpPr>
        <p:spPr>
          <a:xfrm>
            <a:off x="6373368" y="2074334"/>
            <a:ext cx="47548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b="0" sz="19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900"/>
              <a:buNone/>
              <a:defRPr b="1" sz="19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37" name="Google Shape;37;p10"/>
          <p:cNvSpPr txBox="1"/>
          <p:nvPr>
            <p:ph idx="4" type="body"/>
          </p:nvPr>
        </p:nvSpPr>
        <p:spPr>
          <a:xfrm>
            <a:off x="6373368" y="2756581"/>
            <a:ext cx="475488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800"/>
              <a:buChar char="◦"/>
              <a:defRPr sz="1800"/>
            </a:lvl1pPr>
            <a:lvl2pPr indent="-3302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◦"/>
              <a:defRPr sz="1600"/>
            </a:lvl2pPr>
            <a:lvl3pPr indent="-3175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3pPr>
            <a:lvl4pPr indent="-3175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4pPr>
            <a:lvl5pPr indent="-3175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5pPr>
            <a:lvl6pPr indent="-3175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6pPr>
            <a:lvl7pPr indent="-3175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7pPr>
            <a:lvl8pPr indent="-3175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8pPr>
            <a:lvl9pPr indent="-31750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9pPr>
          </a:lstStyle>
          <a:p/>
        </p:txBody>
      </p:sp>
      <p:sp>
        <p:nvSpPr>
          <p:cNvPr id="38" name="Google Shape;38;p10"/>
          <p:cNvSpPr txBox="1"/>
          <p:nvPr>
            <p:ph idx="10" type="dt"/>
          </p:nvPr>
        </p:nvSpPr>
        <p:spPr>
          <a:xfrm>
            <a:off x="274320" y="6307672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0"/>
          <p:cNvSpPr txBox="1"/>
          <p:nvPr>
            <p:ph idx="11" type="ftr"/>
          </p:nvPr>
        </p:nvSpPr>
        <p:spPr>
          <a:xfrm>
            <a:off x="3489960" y="6307672"/>
            <a:ext cx="5212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0"/>
          <p:cNvSpPr txBox="1"/>
          <p:nvPr>
            <p:ph idx="12" type="sldNum"/>
          </p:nvPr>
        </p:nvSpPr>
        <p:spPr>
          <a:xfrm>
            <a:off x="10469880" y="6307672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główek sekcji" showMasterSp="0" type="secHead">
  <p:cSld name="SECTION_HEADER">
    <p:bg>
      <p:bgPr>
        <a:gradFill>
          <a:gsLst>
            <a:gs pos="0">
              <a:srgbClr val="E1DBC9"/>
            </a:gs>
            <a:gs pos="77000">
              <a:srgbClr val="C8C1B0"/>
            </a:gs>
            <a:gs pos="100000">
              <a:srgbClr val="C0BAAA"/>
            </a:gs>
          </a:gsLst>
          <a:lin ang="5400000" scaled="0"/>
        </a:gra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rotWithShape="1">
            <a:blip r:embed="rId2">
              <a:alphaModFix amt="45000"/>
            </a:blip>
            <a:tile algn="tl" flip="none" tx="-44450" sx="85000" ty="38100" sy="85000"/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8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rotWithShape="0" algn="ctr">
              <a:srgbClr val="000000">
                <a:alpha val="6549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8"/>
          <p:cNvSpPr/>
          <p:nvPr/>
        </p:nvSpPr>
        <p:spPr>
          <a:xfrm>
            <a:off x="1447800" y="1411615"/>
            <a:ext cx="9296400" cy="4034770"/>
          </a:xfrm>
          <a:prstGeom prst="rect">
            <a:avLst/>
          </a:prstGeom>
          <a:noFill/>
          <a:ln cap="sq" cmpd="sng" w="9525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8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6" name="Google Shape;46;p8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47" name="Google Shape;47;p8"/>
            <p:cNvCxnSpPr/>
            <p:nvPr/>
          </p:nvCxnSpPr>
          <p:spPr>
            <a:xfrm>
              <a:off x="5318306" y="1386268"/>
              <a:ext cx="0" cy="640080"/>
            </a:xfrm>
            <a:prstGeom prst="straightConnector1">
              <a:avLst/>
            </a:prstGeom>
            <a:solidFill>
              <a:srgbClr val="262626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8" name="Google Shape;48;p8"/>
            <p:cNvCxnSpPr/>
            <p:nvPr/>
          </p:nvCxnSpPr>
          <p:spPr>
            <a:xfrm>
              <a:off x="6885637" y="1386268"/>
              <a:ext cx="0" cy="640080"/>
            </a:xfrm>
            <a:prstGeom prst="straightConnector1">
              <a:avLst/>
            </a:prstGeom>
            <a:solidFill>
              <a:srgbClr val="262626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9" name="Google Shape;49;p8"/>
            <p:cNvCxnSpPr/>
            <p:nvPr/>
          </p:nvCxnSpPr>
          <p:spPr>
            <a:xfrm>
              <a:off x="5318306" y="2031563"/>
              <a:ext cx="1567331" cy="0"/>
            </a:xfrm>
            <a:prstGeom prst="straightConnector1">
              <a:avLst/>
            </a:prstGeom>
            <a:solidFill>
              <a:srgbClr val="262626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50" name="Google Shape;50;p8"/>
          <p:cNvSpPr txBox="1"/>
          <p:nvPr>
            <p:ph type="title"/>
          </p:nvPr>
        </p:nvSpPr>
        <p:spPr>
          <a:xfrm>
            <a:off x="1563623" y="2094309"/>
            <a:ext cx="9070848" cy="2587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7200"/>
              <a:buFont typeface="Century Gothic"/>
              <a:buNone/>
              <a:defRPr sz="7200" cap="non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" type="body"/>
          </p:nvPr>
        </p:nvSpPr>
        <p:spPr>
          <a:xfrm>
            <a:off x="1563624" y="4682062"/>
            <a:ext cx="907084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2" name="Google Shape;52;p8"/>
          <p:cNvSpPr txBox="1"/>
          <p:nvPr>
            <p:ph idx="10" type="dt"/>
          </p:nvPr>
        </p:nvSpPr>
        <p:spPr>
          <a:xfrm>
            <a:off x="5321808" y="1344502"/>
            <a:ext cx="15544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1" type="ftr"/>
          </p:nvPr>
        </p:nvSpPr>
        <p:spPr>
          <a:xfrm>
            <a:off x="1453553" y="5211060"/>
            <a:ext cx="5907024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8"/>
          <p:cNvSpPr txBox="1"/>
          <p:nvPr>
            <p:ph idx="12" type="sldNum"/>
          </p:nvPr>
        </p:nvSpPr>
        <p:spPr>
          <a:xfrm>
            <a:off x="8604504" y="5211060"/>
            <a:ext cx="2112264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wa elementy zawartości" type="twoObj">
  <p:cSld name="TWO_OBJECTS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9"/>
          <p:cNvSpPr txBox="1"/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9"/>
          <p:cNvSpPr txBox="1"/>
          <p:nvPr>
            <p:ph idx="1" type="body"/>
          </p:nvPr>
        </p:nvSpPr>
        <p:spPr>
          <a:xfrm>
            <a:off x="1066800" y="2103120"/>
            <a:ext cx="4754880" cy="3749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800"/>
              <a:buChar char="◦"/>
              <a:defRPr sz="1800"/>
            </a:lvl1pPr>
            <a:lvl2pPr indent="-3302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◦"/>
              <a:defRPr sz="1600"/>
            </a:lvl2pPr>
            <a:lvl3pPr indent="-3175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3pPr>
            <a:lvl4pPr indent="-3175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4pPr>
            <a:lvl5pPr indent="-3175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5pPr>
            <a:lvl6pPr indent="-3175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6pPr>
            <a:lvl7pPr indent="-3175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7pPr>
            <a:lvl8pPr indent="-3175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8pPr>
            <a:lvl9pPr indent="-31750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9pPr>
          </a:lstStyle>
          <a:p/>
        </p:txBody>
      </p:sp>
      <p:sp>
        <p:nvSpPr>
          <p:cNvPr id="58" name="Google Shape;58;p9"/>
          <p:cNvSpPr txBox="1"/>
          <p:nvPr>
            <p:ph idx="2" type="body"/>
          </p:nvPr>
        </p:nvSpPr>
        <p:spPr>
          <a:xfrm>
            <a:off x="6370320" y="2103120"/>
            <a:ext cx="4754880" cy="3749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800"/>
              <a:buChar char="◦"/>
              <a:defRPr sz="1800"/>
            </a:lvl1pPr>
            <a:lvl2pPr indent="-3302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◦"/>
              <a:defRPr sz="1600"/>
            </a:lvl2pPr>
            <a:lvl3pPr indent="-3175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3pPr>
            <a:lvl4pPr indent="-3175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4pPr>
            <a:lvl5pPr indent="-3175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5pPr>
            <a:lvl6pPr indent="-3175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6pPr>
            <a:lvl7pPr indent="-3175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7pPr>
            <a:lvl8pPr indent="-3175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8pPr>
            <a:lvl9pPr indent="-31750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9pPr>
          </a:lstStyle>
          <a:p/>
        </p:txBody>
      </p:sp>
      <p:sp>
        <p:nvSpPr>
          <p:cNvPr id="59" name="Google Shape;59;p9"/>
          <p:cNvSpPr txBox="1"/>
          <p:nvPr>
            <p:ph idx="10" type="dt"/>
          </p:nvPr>
        </p:nvSpPr>
        <p:spPr>
          <a:xfrm>
            <a:off x="274320" y="6307672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1" type="ftr"/>
          </p:nvPr>
        </p:nvSpPr>
        <p:spPr>
          <a:xfrm>
            <a:off x="3489960" y="6307672"/>
            <a:ext cx="5212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9"/>
          <p:cNvSpPr txBox="1"/>
          <p:nvPr>
            <p:ph idx="12" type="sldNum"/>
          </p:nvPr>
        </p:nvSpPr>
        <p:spPr>
          <a:xfrm>
            <a:off x="10469880" y="6307672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ylko tytuł" type="titleOnly">
  <p:cSld name="TITLE_ONLY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1"/>
          <p:cNvSpPr txBox="1"/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1"/>
          <p:cNvSpPr txBox="1"/>
          <p:nvPr>
            <p:ph idx="10" type="dt"/>
          </p:nvPr>
        </p:nvSpPr>
        <p:spPr>
          <a:xfrm>
            <a:off x="274320" y="6307672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1" type="ftr"/>
          </p:nvPr>
        </p:nvSpPr>
        <p:spPr>
          <a:xfrm>
            <a:off x="3489960" y="6307672"/>
            <a:ext cx="5212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1"/>
          <p:cNvSpPr txBox="1"/>
          <p:nvPr>
            <p:ph idx="12" type="sldNum"/>
          </p:nvPr>
        </p:nvSpPr>
        <p:spPr>
          <a:xfrm>
            <a:off x="10469880" y="6307672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usty" type="blank">
  <p:cSld name="BLANK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2"/>
          <p:cNvSpPr txBox="1"/>
          <p:nvPr>
            <p:ph idx="10" type="dt"/>
          </p:nvPr>
        </p:nvSpPr>
        <p:spPr>
          <a:xfrm>
            <a:off x="274320" y="6307672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2"/>
          <p:cNvSpPr txBox="1"/>
          <p:nvPr>
            <p:ph idx="11" type="ftr"/>
          </p:nvPr>
        </p:nvSpPr>
        <p:spPr>
          <a:xfrm>
            <a:off x="3489960" y="6307672"/>
            <a:ext cx="5212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2"/>
          <p:cNvSpPr txBox="1"/>
          <p:nvPr>
            <p:ph idx="12" type="sldNum"/>
          </p:nvPr>
        </p:nvSpPr>
        <p:spPr>
          <a:xfrm>
            <a:off x="10469880" y="6307672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awartość z podpisem" showMasterSp="0" type="objTx">
  <p:cSld name="OBJECT_WITH_CAPTION_TEX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3"/>
          <p:cNvSpPr/>
          <p:nvPr/>
        </p:nvSpPr>
        <p:spPr>
          <a:xfrm>
            <a:off x="245529" y="237744"/>
            <a:ext cx="8531352" cy="6382512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13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3"/>
          <p:cNvSpPr txBox="1"/>
          <p:nvPr>
            <p:ph type="title"/>
          </p:nvPr>
        </p:nvSpPr>
        <p:spPr>
          <a:xfrm>
            <a:off x="9296400" y="607392"/>
            <a:ext cx="243078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entury Gothic"/>
              <a:buNone/>
              <a:defRPr b="0" sz="2800" cap="non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3"/>
          <p:cNvSpPr txBox="1"/>
          <p:nvPr>
            <p:ph idx="1" type="body"/>
          </p:nvPr>
        </p:nvSpPr>
        <p:spPr>
          <a:xfrm>
            <a:off x="685800" y="609600"/>
            <a:ext cx="7772400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800"/>
              <a:buChar char="◦"/>
              <a:defRPr sz="1800"/>
            </a:lvl1pPr>
            <a:lvl2pPr indent="-3302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◦"/>
              <a:defRPr sz="1600"/>
            </a:lvl2pPr>
            <a:lvl3pPr indent="-3175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3pPr>
            <a:lvl4pPr indent="-3175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4pPr>
            <a:lvl5pPr indent="-3175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5pPr>
            <a:lvl6pPr indent="-3175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6pPr>
            <a:lvl7pPr indent="-3175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7pPr>
            <a:lvl8pPr indent="-3175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8pPr>
            <a:lvl9pPr indent="-31750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9pPr>
          </a:lstStyle>
          <a:p/>
        </p:txBody>
      </p:sp>
      <p:sp>
        <p:nvSpPr>
          <p:cNvPr id="76" name="Google Shape;76;p13"/>
          <p:cNvSpPr txBox="1"/>
          <p:nvPr>
            <p:ph idx="2" type="body"/>
          </p:nvPr>
        </p:nvSpPr>
        <p:spPr>
          <a:xfrm>
            <a:off x="9296400" y="2286000"/>
            <a:ext cx="2430780" cy="35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77" name="Google Shape;77;p13"/>
          <p:cNvSpPr txBox="1"/>
          <p:nvPr>
            <p:ph idx="10" type="dt"/>
          </p:nvPr>
        </p:nvSpPr>
        <p:spPr>
          <a:xfrm>
            <a:off x="274320" y="6307672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1" type="ftr"/>
          </p:nvPr>
        </p:nvSpPr>
        <p:spPr>
          <a:xfrm>
            <a:off x="3489960" y="6307672"/>
            <a:ext cx="5212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3"/>
          <p:cNvSpPr txBox="1"/>
          <p:nvPr>
            <p:ph idx="12" type="sldNum"/>
          </p:nvPr>
        </p:nvSpPr>
        <p:spPr>
          <a:xfrm>
            <a:off x="10393677" y="6223002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  <p:sp>
        <p:nvSpPr>
          <p:cNvPr id="80" name="Google Shape;80;p13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cap="sq" cmpd="sng" w="9525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braz z podpisem" showMasterSp="0" type="picTx">
  <p:cSld name="PICTURE_WITH_CAPTION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4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14"/>
          <p:cNvSpPr txBox="1"/>
          <p:nvPr>
            <p:ph type="title"/>
          </p:nvPr>
        </p:nvSpPr>
        <p:spPr>
          <a:xfrm>
            <a:off x="9296400" y="603504"/>
            <a:ext cx="2432304" cy="16459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entury Gothic"/>
              <a:buNone/>
              <a:defRPr b="0" sz="2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4"/>
          <p:cNvSpPr/>
          <p:nvPr>
            <p:ph idx="2" type="pic"/>
          </p:nvPr>
        </p:nvSpPr>
        <p:spPr>
          <a:xfrm>
            <a:off x="228599" y="237744"/>
            <a:ext cx="8531352" cy="6382512"/>
          </a:xfrm>
          <a:prstGeom prst="rect">
            <a:avLst/>
          </a:prstGeom>
          <a:solidFill>
            <a:srgbClr val="76CEEF"/>
          </a:solidFill>
          <a:ln>
            <a:noFill/>
          </a:ln>
        </p:spPr>
      </p:sp>
      <p:sp>
        <p:nvSpPr>
          <p:cNvPr id="85" name="Google Shape;85;p14"/>
          <p:cNvSpPr txBox="1"/>
          <p:nvPr>
            <p:ph idx="1" type="body"/>
          </p:nvPr>
        </p:nvSpPr>
        <p:spPr>
          <a:xfrm>
            <a:off x="9296400" y="2286000"/>
            <a:ext cx="2432304" cy="35021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86" name="Google Shape;86;p14"/>
          <p:cNvSpPr txBox="1"/>
          <p:nvPr>
            <p:ph idx="10" type="dt"/>
          </p:nvPr>
        </p:nvSpPr>
        <p:spPr>
          <a:xfrm>
            <a:off x="274320" y="6307672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4"/>
          <p:cNvSpPr txBox="1"/>
          <p:nvPr>
            <p:ph idx="11" type="ftr"/>
          </p:nvPr>
        </p:nvSpPr>
        <p:spPr>
          <a:xfrm>
            <a:off x="3489960" y="6307672"/>
            <a:ext cx="5212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4"/>
          <p:cNvSpPr txBox="1"/>
          <p:nvPr>
            <p:ph idx="12" type="sldNum"/>
          </p:nvPr>
        </p:nvSpPr>
        <p:spPr>
          <a:xfrm>
            <a:off x="10396728" y="6227064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  <p:sp>
        <p:nvSpPr>
          <p:cNvPr id="89" name="Google Shape;89;p14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cap="sq" cmpd="sng" w="9525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ytuł i tekst pionowy" type="vertTx">
  <p:cSld name="VERTICAL_TEXT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5"/>
          <p:cNvSpPr txBox="1"/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5"/>
          <p:cNvSpPr txBox="1"/>
          <p:nvPr>
            <p:ph idx="1" type="body"/>
          </p:nvPr>
        </p:nvSpPr>
        <p:spPr>
          <a:xfrm rot="5400000">
            <a:off x="4130040" y="-960120"/>
            <a:ext cx="3931920" cy="100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800"/>
              <a:buChar char="◦"/>
              <a:defRPr/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93" name="Google Shape;93;p15"/>
          <p:cNvSpPr txBox="1"/>
          <p:nvPr>
            <p:ph idx="10" type="dt"/>
          </p:nvPr>
        </p:nvSpPr>
        <p:spPr>
          <a:xfrm>
            <a:off x="274320" y="6307672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5"/>
          <p:cNvSpPr txBox="1"/>
          <p:nvPr>
            <p:ph idx="11" type="ftr"/>
          </p:nvPr>
        </p:nvSpPr>
        <p:spPr>
          <a:xfrm>
            <a:off x="3489960" y="6307672"/>
            <a:ext cx="5212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15"/>
          <p:cNvSpPr txBox="1"/>
          <p:nvPr>
            <p:ph idx="12" type="sldNum"/>
          </p:nvPr>
        </p:nvSpPr>
        <p:spPr>
          <a:xfrm>
            <a:off x="10469880" y="6307672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ytuł pionowy i tekst" type="vertTitleAndTx">
  <p:cSld name="VERTICAL_TITLE_AND_VERTICAL_TEXT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6"/>
          <p:cNvSpPr txBox="1"/>
          <p:nvPr>
            <p:ph type="title"/>
          </p:nvPr>
        </p:nvSpPr>
        <p:spPr>
          <a:xfrm rot="5400000">
            <a:off x="7543800" y="2209800"/>
            <a:ext cx="5257800" cy="23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6"/>
          <p:cNvSpPr txBox="1"/>
          <p:nvPr>
            <p:ph idx="1" type="body"/>
          </p:nvPr>
        </p:nvSpPr>
        <p:spPr>
          <a:xfrm rot="5400000">
            <a:off x="2247900" y="-647700"/>
            <a:ext cx="5257800" cy="80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800"/>
              <a:buChar char="◦"/>
              <a:defRPr/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99" name="Google Shape;99;p16"/>
          <p:cNvSpPr txBox="1"/>
          <p:nvPr>
            <p:ph idx="10" type="dt"/>
          </p:nvPr>
        </p:nvSpPr>
        <p:spPr>
          <a:xfrm>
            <a:off x="274320" y="6307672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16"/>
          <p:cNvSpPr txBox="1"/>
          <p:nvPr>
            <p:ph idx="11" type="ftr"/>
          </p:nvPr>
        </p:nvSpPr>
        <p:spPr>
          <a:xfrm>
            <a:off x="3489960" y="6307672"/>
            <a:ext cx="5212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16"/>
          <p:cNvSpPr txBox="1"/>
          <p:nvPr>
            <p:ph idx="12" type="sldNum"/>
          </p:nvPr>
        </p:nvSpPr>
        <p:spPr>
          <a:xfrm>
            <a:off x="10469880" y="6307672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7;p5"/>
          <p:cNvSpPr txBox="1"/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800"/>
              <a:buFont typeface="Century Gothic"/>
              <a:buNone/>
              <a:defRPr b="0" i="0" sz="4800" u="none" cap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5"/>
          <p:cNvSpPr txBox="1"/>
          <p:nvPr>
            <p:ph idx="1" type="body"/>
          </p:nvPr>
        </p:nvSpPr>
        <p:spPr>
          <a:xfrm>
            <a:off x="1066800" y="2103120"/>
            <a:ext cx="10058400" cy="3931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Garamond"/>
              <a:buChar char="◦"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302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Garamond"/>
              <a:buChar char="◦"/>
              <a:defRPr b="0" i="0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Garamond"/>
              <a:buChar char="◦"/>
              <a:defRPr b="0" i="0" sz="1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Garamond"/>
              <a:buChar char="◦"/>
              <a:defRPr b="0" i="0" sz="1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Garamond"/>
              <a:buChar char="◦"/>
              <a:defRPr b="0" i="0" sz="1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Garamond"/>
              <a:buChar char="◦"/>
              <a:defRPr b="0" i="0" sz="1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Garamond"/>
              <a:buChar char="◦"/>
              <a:defRPr b="0" i="0" sz="1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Garamond"/>
              <a:buChar char="◦"/>
              <a:defRPr b="0" i="0" sz="1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Garamond"/>
              <a:buChar char="◦"/>
              <a:defRPr b="0" i="0" sz="1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9" name="Google Shape;9;p5"/>
          <p:cNvSpPr txBox="1"/>
          <p:nvPr>
            <p:ph idx="10" type="dt"/>
          </p:nvPr>
        </p:nvSpPr>
        <p:spPr>
          <a:xfrm>
            <a:off x="274320" y="6307672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0" name="Google Shape;10;p5"/>
          <p:cNvSpPr txBox="1"/>
          <p:nvPr>
            <p:ph idx="11" type="ftr"/>
          </p:nvPr>
        </p:nvSpPr>
        <p:spPr>
          <a:xfrm>
            <a:off x="3489960" y="6307672"/>
            <a:ext cx="5212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1" name="Google Shape;11;p5"/>
          <p:cNvSpPr txBox="1"/>
          <p:nvPr>
            <p:ph idx="12" type="sldNum"/>
          </p:nvPr>
        </p:nvSpPr>
        <p:spPr>
          <a:xfrm>
            <a:off x="10469880" y="6307672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operavision.eu/feature/metastasio-28-opera-librettos-and-still-counting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www.youtube.com/watch?v=JOgzLyd0GTo&amp;list=RDJOgzLyd0GTo&amp;start_radio=1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www.youtube.com/watch?v=4kIwICTLG6M" TargetMode="External"/><Relationship Id="rId4" Type="http://schemas.openxmlformats.org/officeDocument/2006/relationships/hyperlink" Target="https://www.youtube.com/watch?v=GCH-NxA7zFg" TargetMode="External"/><Relationship Id="rId5" Type="http://schemas.openxmlformats.org/officeDocument/2006/relationships/hyperlink" Target="https://www.youtube.com/watch?v=U3wI0ECUdHE" TargetMode="External"/><Relationship Id="rId6" Type="http://schemas.openxmlformats.org/officeDocument/2006/relationships/hyperlink" Target="https://www.youtube.com/watch?v=ilYPUsWZqCA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www.youtube.com/watch?v=2E5msegctT4" TargetMode="External"/><Relationship Id="rId4" Type="http://schemas.openxmlformats.org/officeDocument/2006/relationships/hyperlink" Target="https://www.youtube.com/watch?v=qgEl64W1TAg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www.youtube.com/watch?v=x94NEb1IGWU" TargetMode="External"/><Relationship Id="rId4" Type="http://schemas.openxmlformats.org/officeDocument/2006/relationships/hyperlink" Target="https://www.youtube.com/watch?v=ufy4AGOFVAI" TargetMode="External"/><Relationship Id="rId5" Type="http://schemas.openxmlformats.org/officeDocument/2006/relationships/hyperlink" Target="https://brewiarz.pl/czytelnia/stabat.php3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en.wikipedia.org/wiki/Mass_in_B_minor" TargetMode="External"/><Relationship Id="rId4" Type="http://schemas.openxmlformats.org/officeDocument/2006/relationships/hyperlink" Target="https://www.youtube.com/watch?v=zS2biN257sQ" TargetMode="External"/><Relationship Id="rId5" Type="http://schemas.openxmlformats.org/officeDocument/2006/relationships/hyperlink" Target="https://www.youtube.com/watch?v=3FLbiDrn8IE" TargetMode="External"/><Relationship Id="rId6" Type="http://schemas.openxmlformats.org/officeDocument/2006/relationships/hyperlink" Target="https://www.youtube.com/watch?v=hyUDe-_l6xQ" TargetMode="External"/><Relationship Id="rId7" Type="http://schemas.openxmlformats.org/officeDocument/2006/relationships/hyperlink" Target="https://www.youtube.com/watch?v=rwda71H3VE4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"/>
          <p:cNvSpPr txBox="1"/>
          <p:nvPr>
            <p:ph type="ctrTitle"/>
          </p:nvPr>
        </p:nvSpPr>
        <p:spPr>
          <a:xfrm>
            <a:off x="1561708" y="2243663"/>
            <a:ext cx="9068700" cy="25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7200"/>
              <a:buFont typeface="Century Gothic"/>
              <a:buNone/>
            </a:pPr>
            <a:r>
              <a:rPr lang="pl-PL"/>
              <a:t>SZKOŁA NEAPOLITAŃSKA</a:t>
            </a:r>
            <a:br>
              <a:rPr lang="pl-PL"/>
            </a:br>
            <a:endParaRPr/>
          </a:p>
        </p:txBody>
      </p:sp>
      <p:sp>
        <p:nvSpPr>
          <p:cNvPr id="107" name="Google Shape;107;p1"/>
          <p:cNvSpPr txBox="1"/>
          <p:nvPr>
            <p:ph idx="1" type="subTitle"/>
          </p:nvPr>
        </p:nvSpPr>
        <p:spPr>
          <a:xfrm>
            <a:off x="1562100" y="4682062"/>
            <a:ext cx="9070848" cy="4572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pl-PL" sz="2400"/>
              <a:t>Opera i muzyka kościelna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"/>
          <p:cNvSpPr txBox="1"/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pl-PL" sz="3600"/>
              <a:t>Wielkie znaczenie – mała rozpoznawalność</a:t>
            </a:r>
            <a:endParaRPr/>
          </a:p>
        </p:txBody>
      </p:sp>
      <p:sp>
        <p:nvSpPr>
          <p:cNvPr id="113" name="Google Shape;113;p2"/>
          <p:cNvSpPr txBox="1"/>
          <p:nvPr>
            <p:ph idx="1" type="body"/>
          </p:nvPr>
        </p:nvSpPr>
        <p:spPr>
          <a:xfrm>
            <a:off x="1066800" y="2103120"/>
            <a:ext cx="10058400" cy="3931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pl-PL" sz="2400"/>
              <a:t>Dokonania kompozytorów związanych ze szkołą neapolitańską zmieniły oblicze muzyki baroku, a wpływy tej szkoły sięga aż do końca XVIII wieku.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2400"/>
              <a:buNone/>
            </a:pPr>
            <a:r>
              <a:rPr lang="pl-PL" sz="2400"/>
              <a:t>Nie byłoby muzyki Bacha i Haendla, gdyby nie twórczość szkoły neapolitańskiej.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2400"/>
              <a:buNone/>
            </a:pPr>
            <a:r>
              <a:rPr lang="pl-PL" sz="2400"/>
              <a:t>Tymczasem nazwiska kompozytorów neapolitańskich są mało znane, i zwykle nie umieszcza się ich w „galerii sław” twórców muzyki baroku.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"/>
          <p:cNvSpPr txBox="1"/>
          <p:nvPr>
            <p:ph type="title"/>
          </p:nvPr>
        </p:nvSpPr>
        <p:spPr>
          <a:xfrm>
            <a:off x="1066800" y="642594"/>
            <a:ext cx="10058400" cy="781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200"/>
              <a:buFont typeface="Century Gothic"/>
              <a:buNone/>
            </a:pPr>
            <a:r>
              <a:rPr lang="pl-PL" sz="3200"/>
              <a:t>Generacje kompozytorów neapolitańskich</a:t>
            </a:r>
            <a:endParaRPr/>
          </a:p>
        </p:txBody>
      </p:sp>
      <p:sp>
        <p:nvSpPr>
          <p:cNvPr id="119" name="Google Shape;119;p3"/>
          <p:cNvSpPr txBox="1"/>
          <p:nvPr>
            <p:ph idx="1" type="body"/>
          </p:nvPr>
        </p:nvSpPr>
        <p:spPr>
          <a:xfrm>
            <a:off x="1066800" y="1424066"/>
            <a:ext cx="10058400" cy="46109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400050" lvl="0" marL="4000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AutoNum type="romanUcPeriod"/>
            </a:pPr>
            <a:r>
              <a:rPr lang="pl-PL" sz="2400"/>
              <a:t>Francesco Provenzale (1624-1704)</a:t>
            </a:r>
            <a:endParaRPr/>
          </a:p>
          <a:p>
            <a:pPr indent="-247650" lvl="0" marL="40005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400050" lvl="0" marL="40005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2400"/>
              <a:buAutoNum type="romanUcPeriod"/>
            </a:pPr>
            <a:r>
              <a:rPr lang="pl-PL" sz="2400"/>
              <a:t>Alessandro Scarlatti (1660-1725)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2400"/>
              <a:buNone/>
            </a:pPr>
            <a:r>
              <a:rPr lang="pl-PL" sz="2400"/>
              <a:t>III. Leonardo Vinci (ok. 1690-1730), Leonardo Leo (1694-1744),Nicola Porpora (1686-1768), Francesco Feo (1691-1761), Giovanni Battista Pergolesi (1710-1736)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2400"/>
              <a:buNone/>
            </a:pPr>
            <a:r>
              <a:rPr lang="pl-PL" sz="2400"/>
              <a:t>IV. Nicola Piccini (1728-1800), Giovanni Paisiello (1740-1816), Domenico Cimarosa (1749-1801, Niccolo Jomelli (1714-1774), Johann Adolf Hasse (1699-1783)</a:t>
            </a:r>
            <a:endParaRPr/>
          </a:p>
          <a:p>
            <a:pPr indent="-68578" lvl="0" marL="18288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"/>
          <p:cNvSpPr txBox="1"/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800"/>
              <a:buFont typeface="Century Gothic"/>
              <a:buNone/>
            </a:pPr>
            <a:r>
              <a:rPr lang="pl-PL"/>
              <a:t>Królestwo Neapolu</a:t>
            </a:r>
            <a:endParaRPr/>
          </a:p>
        </p:txBody>
      </p:sp>
      <p:sp>
        <p:nvSpPr>
          <p:cNvPr id="125" name="Google Shape;125;p4"/>
          <p:cNvSpPr txBox="1"/>
          <p:nvPr>
            <p:ph idx="1" type="body"/>
          </p:nvPr>
        </p:nvSpPr>
        <p:spPr>
          <a:xfrm>
            <a:off x="1066800" y="2103120"/>
            <a:ext cx="10058400" cy="3931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2880" lvl="0" marL="1828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◦"/>
            </a:pPr>
            <a:r>
              <a:rPr lang="pl-PL" sz="2400"/>
              <a:t>Do 1714 pod władzą Hiszpanii, 1714-1735 panowanie Austrii (Habsburgowie), 1735-1799 pod panowaniem hiszpańskich Burbonów;</a:t>
            </a:r>
            <a:endParaRPr/>
          </a:p>
          <a:p>
            <a:pPr indent="-182880" lvl="0" marL="18288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2400"/>
              <a:buChar char="◦"/>
            </a:pPr>
            <a:r>
              <a:rPr lang="pl-PL" sz="2400"/>
              <a:t>Liczne pałace i wille arystokracji</a:t>
            </a:r>
            <a:endParaRPr/>
          </a:p>
          <a:p>
            <a:pPr indent="-182880" lvl="0" marL="18288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2400"/>
              <a:buChar char="◦"/>
            </a:pPr>
            <a:r>
              <a:rPr lang="pl-PL" sz="2400"/>
              <a:t>Niezliczone kościoły i klasztory (ok. 500 kościołów, 100 tys. duchownych na 4,5 mln ludności)</a:t>
            </a:r>
            <a:endParaRPr/>
          </a:p>
          <a:p>
            <a:pPr indent="-182880" lvl="0" marL="18288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2400"/>
              <a:buChar char="◦"/>
            </a:pPr>
            <a:r>
              <a:rPr lang="pl-PL" sz="2400"/>
              <a:t>Znaczący ośrodek kultury i myśli filozoficznej w okresie baroku</a:t>
            </a:r>
            <a:endParaRPr/>
          </a:p>
          <a:p>
            <a:pPr indent="-182880" lvl="0" marL="18288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2400"/>
              <a:buChar char="◦"/>
            </a:pPr>
            <a:r>
              <a:rPr lang="pl-PL" sz="2400"/>
              <a:t>Cztery konserwatoria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4bffeaf436_0_0"/>
          <p:cNvSpPr txBox="1"/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41666"/>
              <a:buNone/>
            </a:pPr>
            <a:r>
              <a:rPr lang="pl-PL"/>
              <a:t>Konserwatoria - od sierocińców do wyższych szkół muzycznych</a:t>
            </a:r>
            <a:endParaRPr/>
          </a:p>
        </p:txBody>
      </p:sp>
      <p:sp>
        <p:nvSpPr>
          <p:cNvPr id="131" name="Google Shape;131;g34bffeaf436_0_0"/>
          <p:cNvSpPr txBox="1"/>
          <p:nvPr>
            <p:ph idx="1" type="body"/>
          </p:nvPr>
        </p:nvSpPr>
        <p:spPr>
          <a:xfrm>
            <a:off x="1066800" y="2103120"/>
            <a:ext cx="10058400" cy="39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4572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2000"/>
              <a:buChar char="-"/>
            </a:pPr>
            <a:r>
              <a:rPr lang="pl-PL" sz="2000"/>
              <a:t>od poł. XVI w. działa Casa dell’Anunziata - instytucja dobroczynna, w której porzucone lub osierocone dzieci kształci się muzycznie, umożliwiając im przyszła pracę w jednym z licznych kościelnych zespołów;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pl-PL" sz="2000"/>
              <a:t>na podobny wzór organizowane są konserwatoria, które w XVII wieku przyćmiewają popularnością Dom Zwiastowania: 1. di S. Maria di Loreto, 2. S. Onofrio in Capuana, 3. della Pieta dei Turchini, 4. di Poveri di Jesu Christo.</a:t>
            </a:r>
            <a:endParaRPr sz="2000"/>
          </a:p>
          <a:p>
            <a:pPr indent="0" lvl="0" marL="4572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800"/>
              <a:buNone/>
            </a:pPr>
            <a:r>
              <a:rPr lang="pl-PL" sz="2000"/>
              <a:t>Konserwatoria przekształcają się w szkoły muzyczne: nauczają w nich najlepsi muzycy Neapolu, uczniowie zjeżdżają z całych Włoch, a także z innych krajów.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2000"/>
              <a:buChar char="-"/>
            </a:pPr>
            <a:r>
              <a:rPr lang="pl-PL" sz="2000"/>
              <a:t>kastraci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pl-PL" sz="2000"/>
              <a:t>najpierw nauka kontrapunktu, potem aktualnego stylu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pl-PL" sz="2000"/>
              <a:t>partimento</a:t>
            </a:r>
            <a:endParaRPr sz="2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4bffeaf436_1_0"/>
          <p:cNvSpPr txBox="1"/>
          <p:nvPr>
            <p:ph type="title"/>
          </p:nvPr>
        </p:nvSpPr>
        <p:spPr>
          <a:xfrm>
            <a:off x="1066800" y="373644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41666"/>
              <a:buNone/>
            </a:pPr>
            <a:r>
              <a:rPr lang="pl-PL"/>
              <a:t>Reforma opery - podział na seria i buffa</a:t>
            </a:r>
            <a:endParaRPr/>
          </a:p>
        </p:txBody>
      </p:sp>
      <p:sp>
        <p:nvSpPr>
          <p:cNvPr id="137" name="Google Shape;137;g34bffeaf436_1_0"/>
          <p:cNvSpPr txBox="1"/>
          <p:nvPr>
            <p:ph idx="1" type="body"/>
          </p:nvPr>
        </p:nvSpPr>
        <p:spPr>
          <a:xfrm>
            <a:off x="1066800" y="1643525"/>
            <a:ext cx="10058400" cy="48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800"/>
              <a:buNone/>
            </a:pPr>
            <a:r>
              <a:rPr lang="pl-PL" sz="2100"/>
              <a:t>Accademia dell’Arcadia w Rzymie (zał 1690)</a:t>
            </a:r>
            <a:endParaRPr sz="2100"/>
          </a:p>
          <a:p>
            <a:pPr indent="0" lvl="0" marL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800"/>
              <a:buNone/>
            </a:pPr>
            <a:r>
              <a:rPr lang="pl-PL" sz="2100"/>
              <a:t>Apostolo Zeno (1668-1750)</a:t>
            </a:r>
            <a:endParaRPr sz="2100"/>
          </a:p>
          <a:p>
            <a:pPr indent="0" lvl="0" marL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800"/>
              <a:buNone/>
            </a:pPr>
            <a:r>
              <a:rPr lang="pl-PL" sz="2100"/>
              <a:t>Pietro Metastasio (1698-1782)</a:t>
            </a:r>
            <a:endParaRPr sz="2100"/>
          </a:p>
          <a:p>
            <a:pPr indent="0" lvl="0" marL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800"/>
              <a:buNone/>
            </a:pPr>
            <a:r>
              <a:rPr lang="pl-PL" sz="2100" u="sng">
                <a:solidFill>
                  <a:schemeClr val="hlink"/>
                </a:solidFill>
                <a:hlinkClick r:id="rId3"/>
              </a:rPr>
              <a:t>https://operavision.eu/feature/metastasio-28-opera-librettos-and-still-counting</a:t>
            </a:r>
            <a:endParaRPr sz="2100"/>
          </a:p>
          <a:p>
            <a:pPr indent="-361950" lvl="0" marL="45720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2100"/>
              <a:buChar char="-"/>
            </a:pPr>
            <a:r>
              <a:rPr lang="pl-PL" sz="2100"/>
              <a:t>uporządkowanie akcji opery wg. klasycznych wzorców, libretto ma mieć wymowę moralną i lieto fine (szczęśliwy koniec)</a:t>
            </a:r>
            <a:endParaRPr sz="2100"/>
          </a:p>
          <a:p>
            <a:pPr indent="-3619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Char char="-"/>
            </a:pPr>
            <a:r>
              <a:rPr lang="pl-PL" sz="2100"/>
              <a:t>eliminacja wątków pobocznych (komicznych)</a:t>
            </a:r>
            <a:endParaRPr sz="2100"/>
          </a:p>
          <a:p>
            <a:pPr indent="-3619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Char char="-"/>
            </a:pPr>
            <a:r>
              <a:rPr lang="pl-PL" sz="2100"/>
              <a:t>osią dramatu konflikt </a:t>
            </a:r>
            <a:r>
              <a:rPr i="1" lang="pl-PL" sz="2100"/>
              <a:t>virtus-amor</a:t>
            </a:r>
            <a:r>
              <a:rPr lang="pl-PL" sz="2100"/>
              <a:t> (uczucie - powinność)</a:t>
            </a:r>
            <a:endParaRPr sz="2100"/>
          </a:p>
          <a:p>
            <a:pPr indent="-3619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Char char="-"/>
            </a:pPr>
            <a:r>
              <a:rPr lang="pl-PL" sz="2100"/>
              <a:t>ograniczenie liczby postaci (primo uomo, prima donna, qualche re, secundo uomo, secunda donna, ultima parte)</a:t>
            </a:r>
            <a:endParaRPr sz="2100"/>
          </a:p>
          <a:p>
            <a:pPr indent="-3619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Char char="-"/>
            </a:pPr>
            <a:r>
              <a:rPr lang="pl-PL" sz="2100"/>
              <a:t>specjalna konstrukcja libretta: recytatywy secco i accompagnato/arioso, aria da capo (ABA’ dwie strofy pokazujące kontrastujące afekty w tej samej sytuacji), powtórzenie z popisem wokalnym śpiewaka.</a:t>
            </a:r>
            <a:endParaRPr sz="2100"/>
          </a:p>
          <a:p>
            <a:pPr indent="0" lvl="0" marL="45720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4bffeaf436_1_6"/>
          <p:cNvSpPr txBox="1"/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l-PL"/>
              <a:t>opera buffa</a:t>
            </a:r>
            <a:endParaRPr/>
          </a:p>
        </p:txBody>
      </p:sp>
      <p:sp>
        <p:nvSpPr>
          <p:cNvPr id="143" name="Google Shape;143;g34bffeaf436_1_6"/>
          <p:cNvSpPr txBox="1"/>
          <p:nvPr>
            <p:ph idx="1" type="body"/>
          </p:nvPr>
        </p:nvSpPr>
        <p:spPr>
          <a:xfrm>
            <a:off x="1066800" y="2103120"/>
            <a:ext cx="10058400" cy="39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800"/>
              <a:buNone/>
            </a:pPr>
            <a:r>
              <a:rPr lang="pl-PL"/>
              <a:t>Provenzale “Lo schiavo di sua moglie” 1672 - comedia per musica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800"/>
              <a:buNone/>
            </a:pPr>
            <a:r>
              <a:rPr lang="pl-PL"/>
              <a:t>opera buffa ma korzenie w commedia dell’arte i operze weneckiej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800"/>
              <a:buNone/>
            </a:pPr>
            <a:r>
              <a:rPr lang="pl-PL"/>
              <a:t>Giovanni Battista Pergolesi 1733 “La serva padrona”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800"/>
              <a:buChar char="-"/>
            </a:pPr>
            <a:r>
              <a:rPr lang="pl-PL"/>
              <a:t>dialekt neapolitański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pl-PL"/>
              <a:t>bohaterowie przypominający żyjących ówcześnie ludzi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pl-PL"/>
              <a:t>postaci sprytnych fryzjerów, służących, pokojówek, niań;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pl-PL"/>
              <a:t>krótsze recytatywy, mniej rozbudowane arie, często stosowane ensamble;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pl-PL"/>
              <a:t>parlando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800"/>
              <a:buNone/>
            </a:pPr>
            <a:r>
              <a:rPr lang="pl-PL"/>
              <a:t>Giovanni Battista Pergolesi 1733 “La serva padrona”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800"/>
              <a:buNone/>
            </a:pPr>
            <a:r>
              <a:rPr lang="pl-PL" u="sng">
                <a:solidFill>
                  <a:schemeClr val="hlink"/>
                </a:solidFill>
                <a:hlinkClick r:id="rId3"/>
              </a:rPr>
              <a:t>https://www.youtube.com/watch?v=JOgzLyd0GTo&amp;list=RDJOgzLyd0GTo&amp;start_radio=1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4bffeaf436_1_12"/>
          <p:cNvSpPr txBox="1"/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l-PL"/>
              <a:t>Alessandro Scarlatti</a:t>
            </a:r>
            <a:endParaRPr/>
          </a:p>
        </p:txBody>
      </p:sp>
      <p:sp>
        <p:nvSpPr>
          <p:cNvPr id="149" name="Google Shape;149;g34bffeaf436_1_12"/>
          <p:cNvSpPr txBox="1"/>
          <p:nvPr>
            <p:ph idx="1" type="body"/>
          </p:nvPr>
        </p:nvSpPr>
        <p:spPr>
          <a:xfrm>
            <a:off x="1066800" y="2103120"/>
            <a:ext cx="10058400" cy="39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00050" lvl="0" marL="4572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2700"/>
              <a:buChar char="-"/>
            </a:pPr>
            <a:r>
              <a:rPr lang="pl-PL" sz="2700"/>
              <a:t>trzyczęściowa sinfonia jako uwertura (sz - w - sz)</a:t>
            </a:r>
            <a:endParaRPr sz="2700"/>
          </a:p>
          <a:p>
            <a:pPr indent="-4000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Char char="-"/>
            </a:pPr>
            <a:r>
              <a:rPr lang="pl-PL" sz="2700"/>
              <a:t>recytatyw jako wstęp do arii (niekiedy modulacja)</a:t>
            </a:r>
            <a:endParaRPr sz="2700"/>
          </a:p>
          <a:p>
            <a:pPr indent="-4000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Char char="-"/>
            </a:pPr>
            <a:r>
              <a:rPr lang="pl-PL" sz="2700"/>
              <a:t>rozbudowane arie da capo</a:t>
            </a:r>
            <a:endParaRPr sz="2700"/>
          </a:p>
          <a:p>
            <a:pPr indent="-4000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Char char="-"/>
            </a:pPr>
            <a:r>
              <a:rPr lang="pl-PL" sz="2700"/>
              <a:t>znacząca rola orkiestry</a:t>
            </a:r>
            <a:endParaRPr sz="2700"/>
          </a:p>
          <a:p>
            <a:pPr indent="-4000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Char char="-"/>
            </a:pPr>
            <a:r>
              <a:rPr lang="pl-PL" sz="2700"/>
              <a:t>wirtuozowska faktura wokalna w stile concerto, wykształconym na gruncie muzyce instrumentalnej (motoryka. długie biegniki gamowe, szybkie repetycje, duże skoki, motywy trójdźwiękowe)</a:t>
            </a:r>
            <a:endParaRPr sz="2700"/>
          </a:p>
          <a:p>
            <a:pPr indent="0" lvl="0" marL="4572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7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4bffeaf436_1_17"/>
          <p:cNvSpPr txBox="1"/>
          <p:nvPr>
            <p:ph type="title"/>
          </p:nvPr>
        </p:nvSpPr>
        <p:spPr>
          <a:xfrm>
            <a:off x="1066800" y="433301"/>
            <a:ext cx="10058400" cy="15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41666"/>
              <a:buNone/>
            </a:pPr>
            <a:r>
              <a:rPr lang="pl-PL"/>
              <a:t>G.F. Haendel - podróż włoska 1707-1709, zapoznanie się ze stylem neapolitańskim</a:t>
            </a:r>
            <a:endParaRPr/>
          </a:p>
        </p:txBody>
      </p:sp>
      <p:sp>
        <p:nvSpPr>
          <p:cNvPr id="155" name="Google Shape;155;g34bffeaf436_1_17"/>
          <p:cNvSpPr txBox="1"/>
          <p:nvPr>
            <p:ph idx="1" type="body"/>
          </p:nvPr>
        </p:nvSpPr>
        <p:spPr>
          <a:xfrm>
            <a:off x="1066800" y="2241175"/>
            <a:ext cx="10058400" cy="37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800"/>
              <a:buNone/>
            </a:pPr>
            <a:r>
              <a:rPr lang="pl-PL"/>
              <a:t>lament - Cara sposa “Rinaldo” </a:t>
            </a:r>
            <a:r>
              <a:rPr lang="pl-PL" u="sng">
                <a:solidFill>
                  <a:schemeClr val="hlink"/>
                </a:solidFill>
                <a:hlinkClick r:id="rId3"/>
              </a:rPr>
              <a:t>https://www.youtube.com/watch?v=4kIwICTLG6M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800"/>
              <a:buNone/>
            </a:pPr>
            <a:r>
              <a:rPr lang="pl-PL"/>
              <a:t>aria di bravura - Vivi tiranno “Rodelinda” </a:t>
            </a:r>
            <a:r>
              <a:rPr lang="pl-PL" u="sng">
                <a:solidFill>
                  <a:schemeClr val="hlink"/>
                </a:solidFill>
                <a:hlinkClick r:id="rId4"/>
              </a:rPr>
              <a:t>https://www.youtube.com/watch?v=GCH-NxA7zFg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800"/>
              <a:buNone/>
            </a:pPr>
            <a:r>
              <a:rPr lang="pl-PL"/>
              <a:t>bel canto, sarabanda Lascia ch’io pianga Rodelinda </a:t>
            </a:r>
            <a:r>
              <a:rPr lang="pl-PL" u="sng">
                <a:solidFill>
                  <a:schemeClr val="hlink"/>
                </a:solidFill>
                <a:hlinkClick r:id="rId5"/>
              </a:rPr>
              <a:t>https://www.youtube.com/watch?v=U3wI0ECUdHE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800"/>
              <a:buNone/>
            </a:pPr>
            <a:r>
              <a:rPr lang="pl-PL"/>
              <a:t>scena szaleństwa Ah, stigie larve “Orlando” </a:t>
            </a:r>
            <a:r>
              <a:rPr lang="pl-PL" u="sng">
                <a:solidFill>
                  <a:schemeClr val="hlink"/>
                </a:solidFill>
                <a:hlinkClick r:id="rId6"/>
              </a:rPr>
              <a:t>https://www.youtube.com/watch?v=ilYPUsWZqCA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7"/>
          <p:cNvSpPr txBox="1"/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41666"/>
              <a:buNone/>
            </a:pPr>
            <a:r>
              <a:rPr lang="pl-PL"/>
              <a:t>Muzyka kościelna w stylu neapolitańskim</a:t>
            </a:r>
            <a:endParaRPr/>
          </a:p>
        </p:txBody>
      </p:sp>
      <p:sp>
        <p:nvSpPr>
          <p:cNvPr id="161" name="Google Shape;161;p17"/>
          <p:cNvSpPr txBox="1"/>
          <p:nvPr>
            <p:ph idx="1" type="body"/>
          </p:nvPr>
        </p:nvSpPr>
        <p:spPr>
          <a:xfrm>
            <a:off x="1066800" y="2563586"/>
            <a:ext cx="10058400" cy="34714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800"/>
              <a:buChar char="◦"/>
            </a:pPr>
            <a:r>
              <a:rPr i="1" lang="pl-PL" sz="2400"/>
              <a:t>stile misto: </a:t>
            </a:r>
            <a:r>
              <a:rPr lang="pl-PL" sz="2400"/>
              <a:t>połączenie stylów – kontrapunktycznego, operowego i koncertowego;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800"/>
              <a:buChar char="◦"/>
            </a:pPr>
            <a:r>
              <a:rPr lang="pl-PL" sz="2400"/>
              <a:t>Znaczenie nauki o afektach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800"/>
              <a:buChar char="◦"/>
            </a:pPr>
            <a:r>
              <a:rPr lang="pl-PL" sz="2400"/>
              <a:t>Zatracenie właściwego stylu kościelnego czy prawdziwy barok?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800"/>
              <a:buChar char="◦"/>
            </a:pPr>
            <a:r>
              <a:rPr lang="pl-PL" sz="2400"/>
              <a:t>Reakcja – Benedykt XIV „Annus qui” 1749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8"/>
          <p:cNvSpPr txBox="1"/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41666"/>
              <a:buNone/>
            </a:pPr>
            <a:r>
              <a:rPr lang="pl-PL"/>
              <a:t>Style w muzyce kościelnej  baroku</a:t>
            </a:r>
            <a:endParaRPr/>
          </a:p>
        </p:txBody>
      </p:sp>
      <p:sp>
        <p:nvSpPr>
          <p:cNvPr id="167" name="Google Shape;167;p18"/>
          <p:cNvSpPr txBox="1"/>
          <p:nvPr>
            <p:ph idx="1" type="body"/>
          </p:nvPr>
        </p:nvSpPr>
        <p:spPr>
          <a:xfrm>
            <a:off x="1069848" y="1754294"/>
            <a:ext cx="47548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286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</a:pPr>
            <a:r>
              <a:rPr lang="pl-PL"/>
              <a:t>I poł XVII</a:t>
            </a:r>
            <a:endParaRPr/>
          </a:p>
        </p:txBody>
      </p:sp>
      <p:sp>
        <p:nvSpPr>
          <p:cNvPr id="168" name="Google Shape;168;p18"/>
          <p:cNvSpPr txBox="1"/>
          <p:nvPr>
            <p:ph idx="2" type="body"/>
          </p:nvPr>
        </p:nvSpPr>
        <p:spPr>
          <a:xfrm>
            <a:off x="1069848" y="2394374"/>
            <a:ext cx="4754880" cy="35619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800"/>
              <a:buChar char="◦"/>
            </a:pPr>
            <a:r>
              <a:rPr lang="pl-PL" sz="2800"/>
              <a:t>Stile antico</a:t>
            </a:r>
            <a:endParaRPr sz="2800"/>
          </a:p>
          <a:p>
            <a:pPr indent="-342900" lvl="0" marL="4572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800"/>
              <a:buChar char="◦"/>
            </a:pPr>
            <a:r>
              <a:rPr lang="pl-PL" sz="2800"/>
              <a:t>Monodia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800"/>
              <a:buChar char="◦"/>
            </a:pPr>
            <a:r>
              <a:rPr lang="pl-PL" sz="2800"/>
              <a:t>Małe concertato</a:t>
            </a:r>
            <a:endParaRPr sz="2800"/>
          </a:p>
          <a:p>
            <a:pPr indent="-342900" lvl="0" marL="4572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800"/>
              <a:buChar char="◦"/>
            </a:pPr>
            <a:r>
              <a:rPr lang="pl-PL" sz="2800"/>
              <a:t>Wielkie concertato</a:t>
            </a:r>
            <a:endParaRPr sz="2800"/>
          </a:p>
          <a:p>
            <a:pPr indent="-342900" lvl="0" marL="4572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800"/>
              <a:buChar char="◦"/>
            </a:pPr>
            <a:r>
              <a:rPr lang="pl-PL" sz="2800"/>
              <a:t>Styl monumentalny</a:t>
            </a:r>
            <a:endParaRPr/>
          </a:p>
        </p:txBody>
      </p:sp>
      <p:sp>
        <p:nvSpPr>
          <p:cNvPr id="169" name="Google Shape;169;p18"/>
          <p:cNvSpPr txBox="1"/>
          <p:nvPr>
            <p:ph idx="3" type="body"/>
          </p:nvPr>
        </p:nvSpPr>
        <p:spPr>
          <a:xfrm>
            <a:off x="6373368" y="1744966"/>
            <a:ext cx="47548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286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</a:pPr>
            <a:r>
              <a:rPr lang="pl-PL"/>
              <a:t>Po 1700</a:t>
            </a:r>
            <a:endParaRPr/>
          </a:p>
        </p:txBody>
      </p:sp>
      <p:sp>
        <p:nvSpPr>
          <p:cNvPr id="170" name="Google Shape;170;p18"/>
          <p:cNvSpPr txBox="1"/>
          <p:nvPr>
            <p:ph idx="4" type="body"/>
          </p:nvPr>
        </p:nvSpPr>
        <p:spPr>
          <a:xfrm>
            <a:off x="6373368" y="2394374"/>
            <a:ext cx="4754880" cy="35626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ct val="82949"/>
              <a:buChar char="◦"/>
            </a:pPr>
            <a:r>
              <a:rPr lang="pl-PL" sz="2800"/>
              <a:t>Stile antico</a:t>
            </a:r>
            <a:endParaRPr sz="2800"/>
          </a:p>
          <a:p>
            <a:pPr indent="0" lvl="0" marL="1143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ct val="82949"/>
              <a:buNone/>
            </a:pPr>
            <a:r>
              <a:rPr lang="pl-PL" sz="2800" u="sng">
                <a:solidFill>
                  <a:schemeClr val="hlink"/>
                </a:solidFill>
                <a:hlinkClick r:id="rId3"/>
              </a:rPr>
              <a:t>https://www.youtube.com/watch?v=2E5msegctT4</a:t>
            </a:r>
            <a:r>
              <a:rPr lang="pl-PL" sz="2800"/>
              <a:t> Antonio Lotti, przed 1717</a:t>
            </a:r>
            <a:endParaRPr/>
          </a:p>
          <a:p>
            <a:pPr indent="0" lvl="0" marL="1143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ct val="82949"/>
              <a:buNone/>
            </a:pPr>
            <a:r>
              <a:rPr lang="pl-PL" sz="2800" u="sng">
                <a:solidFill>
                  <a:schemeClr val="hlink"/>
                </a:solidFill>
                <a:hlinkClick r:id="rId4"/>
              </a:rPr>
              <a:t>https://www.youtube.com/watch?v=qgEl64W1TAg</a:t>
            </a:r>
            <a:r>
              <a:rPr lang="pl-PL" sz="2800"/>
              <a:t> partytura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ct val="82949"/>
              <a:buChar char="◦"/>
            </a:pPr>
            <a:r>
              <a:rPr lang="pl-PL" sz="2800"/>
              <a:t>Styl mieszany (neapolitański), konglomerat polifonii, wpływów opery i muzyki instrumentalnej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ct val="129032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9"/>
          <p:cNvSpPr txBox="1"/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41666"/>
              <a:buNone/>
            </a:pPr>
            <a:r>
              <a:rPr lang="pl-PL"/>
              <a:t>Najważniejsze gatunki liturgiczno-muzyczne</a:t>
            </a:r>
            <a:endParaRPr/>
          </a:p>
        </p:txBody>
      </p:sp>
      <p:sp>
        <p:nvSpPr>
          <p:cNvPr id="176" name="Google Shape;176;p19"/>
          <p:cNvSpPr txBox="1"/>
          <p:nvPr>
            <p:ph idx="1" type="body"/>
          </p:nvPr>
        </p:nvSpPr>
        <p:spPr>
          <a:xfrm>
            <a:off x="1066800" y="2103120"/>
            <a:ext cx="10058400" cy="3931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800"/>
              <a:buChar char="◦"/>
            </a:pPr>
            <a:r>
              <a:rPr lang="pl-PL" sz="2400"/>
              <a:t>Msza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800"/>
              <a:buChar char="◦"/>
            </a:pPr>
            <a:r>
              <a:rPr lang="pl-PL" sz="2400"/>
              <a:t>Nieszpory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800"/>
              <a:buChar char="◦"/>
            </a:pPr>
            <a:r>
              <a:rPr lang="pl-PL" sz="2400"/>
              <a:t>Litanie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800"/>
              <a:buChar char="◦"/>
            </a:pPr>
            <a:r>
              <a:rPr lang="pl-PL" sz="2400"/>
              <a:t>Pasje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800"/>
              <a:buChar char="◦"/>
            </a:pPr>
            <a:r>
              <a:rPr lang="pl-PL" sz="2400"/>
              <a:t>Drobne utwory (antyfony, ofertoria, propria mszalne itp.) – wokalno-instrumentalny koncert kościelny (wieloodcinkowy, potem wielocząstkowy), przekształca się w arie i duety da capo lub w formy kantatowe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0"/>
          <p:cNvSpPr txBox="1"/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41666"/>
              <a:buNone/>
            </a:pPr>
            <a:r>
              <a:rPr i="1" lang="pl-PL"/>
              <a:t>Missa solemnis </a:t>
            </a:r>
            <a:r>
              <a:rPr lang="pl-PL"/>
              <a:t>szkoły neapolitańskiej</a:t>
            </a:r>
            <a:endParaRPr/>
          </a:p>
        </p:txBody>
      </p:sp>
      <p:sp>
        <p:nvSpPr>
          <p:cNvPr id="182" name="Google Shape;182;p20"/>
          <p:cNvSpPr txBox="1"/>
          <p:nvPr>
            <p:ph idx="1" type="body"/>
          </p:nvPr>
        </p:nvSpPr>
        <p:spPr>
          <a:xfrm>
            <a:off x="1066800" y="2103120"/>
            <a:ext cx="10058400" cy="3931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ct val="81081"/>
              <a:buChar char="◦"/>
            </a:pPr>
            <a:r>
              <a:rPr lang="pl-PL" sz="2400"/>
              <a:t>Stylus mixtus (stile misto): połączenie stile anticol, stylu operowego, stylu koncertującego, stylu concerto i formy ritornelowej wykształconej na gruncie koncertu instrumentalnego;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ct val="81081"/>
              <a:buChar char="◦"/>
            </a:pPr>
            <a:r>
              <a:rPr lang="pl-PL" sz="2400"/>
              <a:t>Każdą część stałą mszy kompozytorzy dzielą na kilka zróżnicowanych obsadowo i stylistycznie części (msza kantatowa, msza numerowa, dawniej: msza orkiestrowa)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ct val="81081"/>
              <a:buChar char="◦"/>
            </a:pPr>
            <a:r>
              <a:rPr lang="pl-PL" sz="2400"/>
              <a:t>Jako pierwszy wprowadza arię do mszy Alessandro Scarlatti (1707, 1720)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ct val="81081"/>
              <a:buChar char="◦"/>
            </a:pPr>
            <a:r>
              <a:rPr lang="pl-PL" sz="2400"/>
              <a:t>Kompozytorzy z kolejnej generacji koncentrują się na ukazaniu afektowanego wyrazu (Pergolesi)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1"/>
          <p:cNvSpPr txBox="1"/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</a:pPr>
            <a:r>
              <a:rPr lang="pl-PL"/>
              <a:t>Współczynniki </a:t>
            </a:r>
            <a:endParaRPr/>
          </a:p>
        </p:txBody>
      </p:sp>
      <p:sp>
        <p:nvSpPr>
          <p:cNvPr id="188" name="Google Shape;188;p21"/>
          <p:cNvSpPr txBox="1"/>
          <p:nvPr>
            <p:ph idx="1" type="body"/>
          </p:nvPr>
        </p:nvSpPr>
        <p:spPr>
          <a:xfrm>
            <a:off x="1066800" y="1600200"/>
            <a:ext cx="10058400" cy="4434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800"/>
              <a:buChar char="◦"/>
            </a:pPr>
            <a:r>
              <a:rPr lang="pl-PL" sz="2400"/>
              <a:t>Tutti polifoniczne: najczęściej Kyrie, oraz tzw. Amen-fugi w Gloria i Credo – instrumenty zdwajają głosy wokalne lub prowadzą tematy i kontrapunkty niezależnie;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800"/>
              <a:buChar char="◦"/>
            </a:pPr>
            <a:r>
              <a:rPr lang="pl-PL" sz="2400"/>
              <a:t>Tutti deklamacyjne (ekwiwalent recytatywu): chór – sylabiczna deklamacja, homorytmia, rolę melodyczno-tematyczną przejmują instrumenty;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800"/>
              <a:buChar char="◦"/>
            </a:pPr>
            <a:r>
              <a:rPr lang="pl-PL" sz="2400"/>
              <a:t>Arie i duety, najczęściej o formie AB (Kirchenaria): mało tekstu, liczne powtórzenia, progresje, ozdobniki, niekończące się melizmaty; charakter wirtuozowski bądź liryczny – w zależności od afektu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2"/>
          <p:cNvSpPr txBox="1"/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41666"/>
              <a:buNone/>
            </a:pPr>
            <a:r>
              <a:rPr lang="pl-PL"/>
              <a:t>A. Scarlatti – Missa Sancta Cecilia (1720)</a:t>
            </a:r>
            <a:endParaRPr/>
          </a:p>
        </p:txBody>
      </p:sp>
      <p:sp>
        <p:nvSpPr>
          <p:cNvPr id="194" name="Google Shape;194;p22"/>
          <p:cNvSpPr txBox="1"/>
          <p:nvPr>
            <p:ph idx="1" type="body"/>
          </p:nvPr>
        </p:nvSpPr>
        <p:spPr>
          <a:xfrm>
            <a:off x="1066800" y="2103120"/>
            <a:ext cx="10058400" cy="3931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800"/>
              <a:buChar char="◦"/>
            </a:pPr>
            <a:r>
              <a:rPr lang="pl-PL" u="sng">
                <a:solidFill>
                  <a:schemeClr val="hlink"/>
                </a:solidFill>
                <a:hlinkClick r:id="rId3"/>
              </a:rPr>
              <a:t>https://www.youtube.com/watch?v=x94NEb1IGWU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800"/>
              <a:buChar char="◦"/>
            </a:pPr>
            <a:r>
              <a:rPr lang="pl-PL" sz="2800"/>
              <a:t>Pergolesi - Stabat Mater</a:t>
            </a:r>
            <a:endParaRPr sz="2800"/>
          </a:p>
          <a:p>
            <a:pPr indent="-342900" lvl="0" marL="4572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800"/>
              <a:buChar char="◦"/>
            </a:pPr>
            <a:r>
              <a:rPr lang="pl-PL" sz="2800"/>
              <a:t>1.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800"/>
              <a:buChar char="◦"/>
            </a:pPr>
            <a:r>
              <a:rPr lang="pl-PL" sz="2800"/>
              <a:t>4. Quer meorebat et dolebat</a:t>
            </a:r>
            <a:endParaRPr sz="2800"/>
          </a:p>
          <a:p>
            <a:pPr indent="-342900" lvl="0" marL="4572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800"/>
              <a:buChar char="◦"/>
            </a:pPr>
            <a:r>
              <a:rPr lang="pl-PL" sz="2800"/>
              <a:t>5. Quis est homo</a:t>
            </a:r>
            <a:endParaRPr/>
          </a:p>
          <a:p>
            <a:pPr indent="0" lvl="0" marL="1143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800"/>
              <a:buNone/>
            </a:pPr>
            <a:r>
              <a:rPr lang="pl-PL" sz="2800" u="sng">
                <a:solidFill>
                  <a:schemeClr val="hlink"/>
                </a:solidFill>
                <a:hlinkClick r:id="rId4"/>
              </a:rPr>
              <a:t>https://www.youtube.com/watch?v=ufy4AGOFVAI</a:t>
            </a:r>
            <a:endParaRPr sz="2800"/>
          </a:p>
          <a:p>
            <a:pPr indent="0" lvl="0" marL="1143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800"/>
              <a:buNone/>
            </a:pPr>
            <a:r>
              <a:rPr lang="pl-PL" sz="2800"/>
              <a:t>Tekst: </a:t>
            </a:r>
            <a:r>
              <a:rPr lang="pl-PL" sz="2800" u="sng">
                <a:solidFill>
                  <a:schemeClr val="hlink"/>
                </a:solidFill>
                <a:hlinkClick r:id="rId5"/>
              </a:rPr>
              <a:t>https://brewiarz.pl/czytelnia/stabat.php3</a:t>
            </a:r>
            <a:endParaRPr sz="2800"/>
          </a:p>
          <a:p>
            <a:pPr indent="0" lvl="0" marL="1143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8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3"/>
          <p:cNvSpPr txBox="1"/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</a:pPr>
            <a:r>
              <a:rPr lang="pl-PL"/>
              <a:t>J. S. Bach – Msza h-moll</a:t>
            </a:r>
            <a:endParaRPr/>
          </a:p>
        </p:txBody>
      </p:sp>
      <p:sp>
        <p:nvSpPr>
          <p:cNvPr id="200" name="Google Shape;200;p23"/>
          <p:cNvSpPr txBox="1"/>
          <p:nvPr>
            <p:ph idx="1" type="body"/>
          </p:nvPr>
        </p:nvSpPr>
        <p:spPr>
          <a:xfrm>
            <a:off x="1066800" y="2103120"/>
            <a:ext cx="10058400" cy="3931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800"/>
              <a:buChar char="◦"/>
            </a:pPr>
            <a:r>
              <a:rPr lang="pl-PL"/>
              <a:t>Pierwotna wersja Sanctus w 1724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800"/>
              <a:buChar char="◦"/>
            </a:pPr>
            <a:r>
              <a:rPr lang="pl-PL"/>
              <a:t>Kyrie –Gloria w 1733 podarowane Augustowi III w Dreźnie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800"/>
              <a:buChar char="◦"/>
            </a:pPr>
            <a:r>
              <a:rPr lang="pl-PL"/>
              <a:t>Reszta części skompilowana w ostatnich latach zycia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800"/>
              <a:buChar char="◦"/>
            </a:pPr>
            <a:r>
              <a:rPr lang="pl-PL"/>
              <a:t>Rękopis zapisany w czterech częściach, w latach 1945-1977 znajdował się w Bibliotece Jagiellońskiej</a:t>
            </a:r>
            <a:endParaRPr/>
          </a:p>
          <a:p>
            <a:pPr indent="0" lvl="0" marL="1143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800"/>
              <a:buNone/>
            </a:pPr>
            <a:r>
              <a:rPr lang="pl-PL" u="sng">
                <a:solidFill>
                  <a:schemeClr val="hlink"/>
                </a:solidFill>
                <a:hlinkClick r:id="rId3"/>
              </a:rPr>
              <a:t>https://en.wikipedia.org/wiki/Mass_in_B_minor</a:t>
            </a:r>
            <a:endParaRPr/>
          </a:p>
          <a:p>
            <a:pPr indent="0" lvl="0" marL="1143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800"/>
              <a:buNone/>
            </a:pPr>
            <a:r>
              <a:rPr lang="pl-PL"/>
              <a:t>Kyrie </a:t>
            </a:r>
            <a:r>
              <a:rPr lang="pl-PL" u="sng">
                <a:solidFill>
                  <a:schemeClr val="hlink"/>
                </a:solidFill>
                <a:hlinkClick r:id="rId4"/>
              </a:rPr>
              <a:t>https://www.youtube.com/watch?v=zS2biN257sQ</a:t>
            </a:r>
            <a:endParaRPr/>
          </a:p>
          <a:p>
            <a:pPr indent="0" lvl="0" marL="1143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800"/>
              <a:buNone/>
            </a:pPr>
            <a:r>
              <a:rPr lang="pl-PL"/>
              <a:t>Quoniam tu solus </a:t>
            </a:r>
            <a:r>
              <a:rPr lang="pl-PL" u="sng">
                <a:solidFill>
                  <a:schemeClr val="hlink"/>
                </a:solidFill>
                <a:hlinkClick r:id="rId5"/>
              </a:rPr>
              <a:t>https://www.youtube.com/watch?v=3FLbiDrn8IE</a:t>
            </a:r>
            <a:endParaRPr/>
          </a:p>
          <a:p>
            <a:pPr indent="0" lvl="0" marL="1143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800"/>
              <a:buNone/>
            </a:pPr>
            <a:r>
              <a:rPr lang="pl-PL"/>
              <a:t>Crucifixus </a:t>
            </a:r>
            <a:r>
              <a:rPr lang="pl-PL" u="sng">
                <a:solidFill>
                  <a:schemeClr val="hlink"/>
                </a:solidFill>
                <a:hlinkClick r:id="rId6"/>
              </a:rPr>
              <a:t>https://www.youtube.com/watch?v=hyUDe-_l6xQ</a:t>
            </a:r>
            <a:endParaRPr/>
          </a:p>
          <a:p>
            <a:pPr indent="0" lvl="0" marL="1143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800"/>
              <a:buNone/>
            </a:pPr>
            <a:r>
              <a:rPr lang="pl-PL"/>
              <a:t>Confiteor </a:t>
            </a:r>
            <a:r>
              <a:rPr lang="pl-PL" u="sng">
                <a:solidFill>
                  <a:schemeClr val="hlink"/>
                </a:solidFill>
                <a:hlinkClick r:id="rId7"/>
              </a:rPr>
              <a:t>https://www.youtube.com/watch?v=rwda71H3VE4</a:t>
            </a:r>
            <a:endParaRPr/>
          </a:p>
          <a:p>
            <a:pPr indent="0" lvl="0" marL="1143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1143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ydło">
  <a:themeElements>
    <a:clrScheme name="Savon">
      <a:dk1>
        <a:srgbClr val="000000"/>
      </a:dk1>
      <a:lt1>
        <a:srgbClr val="FFFFFF"/>
      </a:lt1>
      <a:dk2>
        <a:srgbClr val="1485A4"/>
      </a:dk2>
      <a:lt2>
        <a:srgbClr val="E3DED1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F49100"/>
      </a:hlink>
      <a:folHlink>
        <a:srgbClr val="739D9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F1EA736F3E4807409FC2AD1DF131DC97" ma:contentTypeVersion="7" ma:contentTypeDescription="Utwórz nowy dokument." ma:contentTypeScope="" ma:versionID="2f65554e001a104de1e837ede77d9b54">
  <xsd:schema xmlns:xsd="http://www.w3.org/2001/XMLSchema" xmlns:xs="http://www.w3.org/2001/XMLSchema" xmlns:p="http://schemas.microsoft.com/office/2006/metadata/properties" xmlns:ns2="d69dc642-48f7-4e58-8e1f-5ae592413238" targetNamespace="http://schemas.microsoft.com/office/2006/metadata/properties" ma:root="true" ma:fieldsID="7eb54fb987e1b7a686c2de0228e15e3b" ns2:_="">
    <xsd:import namespace="d69dc642-48f7-4e58-8e1f-5ae59241323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69dc642-48f7-4e58-8e1f-5ae59241323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zawartości"/>
        <xsd:element ref="dc:title" minOccurs="0" maxOccurs="1" ma:index="4" ma:displayName="Tytuł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DBC3AC1-83E3-4E6D-B396-95F4FEC2C09D}"/>
</file>

<file path=customXml/itemProps2.xml><?xml version="1.0" encoding="utf-8"?>
<ds:datastoreItem xmlns:ds="http://schemas.openxmlformats.org/officeDocument/2006/customXml" ds:itemID="{7D714F29-4E0E-4DBA-84FF-29343A3F5C36}"/>
</file>

<file path=customXml/itemProps3.xml><?xml version="1.0" encoding="utf-8"?>
<ds:datastoreItem xmlns:ds="http://schemas.openxmlformats.org/officeDocument/2006/customXml" ds:itemID="{2793788F-352A-45D0-AEC3-FA20E5571648}"/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Magdalena Walter-Mazur</dc:creator>
  <dcterms:created xsi:type="dcterms:W3CDTF">2025-04-15T06:29:38Z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0x010100F1EA736F3E4807409FC2AD1DF131DC97</vt:lpwstr>
  </property>
</Properties>
</file>