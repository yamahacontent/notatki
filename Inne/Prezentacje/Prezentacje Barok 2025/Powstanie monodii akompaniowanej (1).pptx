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9144000" cy="6858000" type="screen4x3"/>
  <p:notesSz cx="6858000" cy="9144000"/>
  <p:embeddedFontLst>
    <p:embeddedFont>
      <p:font typeface="Palatino Linotype" panose="02040502050505030304" pitchFamily="18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jqTCP3pZGim85HKbXWtp44kjey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customschemas.google.com/relationships/presentationmetadata" Target="meta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ryl Drążkowski" userId="S::cyrdra@st.amu.edu.pl::41f26864-5ad6-4f25-a910-867ad3f1cd32" providerId="AD" clId="Web-{80658B6E-CCDC-5961-8B6E-B2B588C9AAF5}"/>
    <pc:docChg chg="modSld">
      <pc:chgData name="Cyryl Drążkowski" userId="S::cyrdra@st.amu.edu.pl::41f26864-5ad6-4f25-a910-867ad3f1cd32" providerId="AD" clId="Web-{80658B6E-CCDC-5961-8B6E-B2B588C9AAF5}" dt="2025-05-10T13:06:25.359" v="1" actId="20577"/>
      <pc:docMkLst>
        <pc:docMk/>
      </pc:docMkLst>
      <pc:sldChg chg="modSp">
        <pc:chgData name="Cyryl Drążkowski" userId="S::cyrdra@st.amu.edu.pl::41f26864-5ad6-4f25-a910-867ad3f1cd32" providerId="AD" clId="Web-{80658B6E-CCDC-5961-8B6E-B2B588C9AAF5}" dt="2025-05-10T13:06:25.359" v="1" actId="20577"/>
        <pc:sldMkLst>
          <pc:docMk/>
          <pc:sldMk cId="0" sldId="275"/>
        </pc:sldMkLst>
        <pc:spChg chg="mod">
          <ac:chgData name="Cyryl Drążkowski" userId="S::cyrdra@st.amu.edu.pl::41f26864-5ad6-4f25-a910-867ad3f1cd32" providerId="AD" clId="Web-{80658B6E-CCDC-5961-8B6E-B2B588C9AAF5}" dt="2025-05-10T13:06:25.359" v="1" actId="20577"/>
          <ac:spMkLst>
            <pc:docMk/>
            <pc:sldMk cId="0" sldId="275"/>
            <ac:spMk id="2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f131464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f131464d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25" rIns="0" bIns="912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66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{</a:t>
            </a:r>
            <a:endParaRPr sz="66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7" name="Google Shape;17;p30"/>
          <p:cNvSpPr txBox="1"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alatino Linotype"/>
              <a:buNone/>
              <a:defRPr sz="6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80"/>
              </a:spcBef>
              <a:spcAft>
                <a:spcPts val="0"/>
              </a:spcAft>
              <a:buClr>
                <a:schemeClr val="lt1"/>
              </a:buClr>
              <a:buSzPts val="11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340"/>
              </a:spcBef>
              <a:spcAft>
                <a:spcPts val="0"/>
              </a:spcAft>
              <a:buClr>
                <a:schemeClr val="lt1"/>
              </a:buClr>
              <a:buSzPts val="10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dt" idx="10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ldNum" idx="12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25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21" name="Google Shape;21;p30"/>
          <p:cNvSpPr txBox="1">
            <a:spLocks noGrp="1"/>
          </p:cNvSpPr>
          <p:nvPr>
            <p:ph type="ftr" idx="11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dt" idx="10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sldNum" idx="12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25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27" name="Google Shape;27;p31"/>
          <p:cNvSpPr txBox="1">
            <a:spLocks noGrp="1"/>
          </p:cNvSpPr>
          <p:nvPr>
            <p:ph type="ftr" idx="11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66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{</a:t>
            </a:r>
            <a:endParaRPr sz="66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dt" idx="10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sldNum" idx="12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25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ftr" idx="11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alatino Linotype"/>
              <a:buNone/>
              <a:defRPr sz="5400" b="0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 txBox="1">
            <a:spLocks noGrp="1"/>
          </p:cNvSpPr>
          <p:nvPr>
            <p:ph type="dt" idx="10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25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ftr" idx="11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3"/>
          <p:cNvSpPr txBox="1">
            <a:spLocks noGrp="1"/>
          </p:cNvSpPr>
          <p:nvPr>
            <p:ph type="body" idx="1"/>
          </p:nvPr>
        </p:nvSpPr>
        <p:spPr>
          <a:xfrm>
            <a:off x="1344168" y="658368"/>
            <a:ext cx="32735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9pPr>
          </a:lstStyle>
          <a:p>
            <a:endParaRPr/>
          </a:p>
        </p:txBody>
      </p:sp>
      <p:sp>
        <p:nvSpPr>
          <p:cNvPr id="41" name="Google Shape;41;p33"/>
          <p:cNvSpPr txBox="1">
            <a:spLocks noGrp="1"/>
          </p:cNvSpPr>
          <p:nvPr>
            <p:ph type="body" idx="2"/>
          </p:nvPr>
        </p:nvSpPr>
        <p:spPr>
          <a:xfrm>
            <a:off x="5029200" y="658368"/>
            <a:ext cx="3273552" cy="343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4"/>
          <p:cNvSpPr txBox="1"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1320"/>
              <a:buNone/>
              <a:defRPr sz="2200" b="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2"/>
          </p:nvPr>
        </p:nvSpPr>
        <p:spPr>
          <a:xfrm>
            <a:off x="1344168" y="1371600"/>
            <a:ext cx="32766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440"/>
              <a:buChar char="🙐"/>
              <a:defRPr sz="2400"/>
            </a:lvl1pPr>
            <a:lvl2pPr marL="914400" lvl="1" indent="-30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🙒"/>
              <a:defRPr sz="2000"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 sz="1800"/>
            </a:lvl3pPr>
            <a:lvl4pPr marL="1828800" lvl="3" indent="-28956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🙑"/>
              <a:defRPr sz="1600"/>
            </a:lvl4pPr>
            <a:lvl5pPr marL="2286000" lvl="4" indent="-28956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🙐"/>
              <a:defRPr sz="1600"/>
            </a:lvl5pPr>
            <a:lvl6pPr marL="2743200" lvl="5" indent="-28956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🙒"/>
              <a:defRPr sz="1600"/>
            </a:lvl6pPr>
            <a:lvl7pPr marL="3200400" lvl="6" indent="-28956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🙓"/>
              <a:defRPr sz="1600"/>
            </a:lvl7pPr>
            <a:lvl8pPr marL="3657600" lvl="7" indent="-289559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🙑"/>
              <a:defRPr sz="1600"/>
            </a:lvl8pPr>
            <a:lvl9pPr marL="4114800" lvl="8" indent="-289559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🙐"/>
              <a:defRPr sz="1600"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3"/>
          </p:nvPr>
        </p:nvSpPr>
        <p:spPr>
          <a:xfrm>
            <a:off x="5029200" y="661976"/>
            <a:ext cx="3273552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1320"/>
              <a:buNone/>
              <a:defRPr sz="2200" b="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body" idx="4"/>
          </p:nvPr>
        </p:nvSpPr>
        <p:spPr>
          <a:xfrm>
            <a:off x="5029200" y="1371600"/>
            <a:ext cx="3273552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440"/>
              <a:buChar char="🙐"/>
              <a:defRPr sz="2400"/>
            </a:lvl1pPr>
            <a:lvl2pPr marL="914400" lvl="1" indent="-30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🙒"/>
              <a:defRPr sz="2000"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 sz="1800"/>
            </a:lvl3pPr>
            <a:lvl4pPr marL="1828800" lvl="3" indent="-28956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🙑"/>
              <a:defRPr sz="1600"/>
            </a:lvl4pPr>
            <a:lvl5pPr marL="2286000" lvl="4" indent="-28956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🙐"/>
              <a:defRPr sz="1600"/>
            </a:lvl5pPr>
            <a:lvl6pPr marL="2743200" lvl="5" indent="-28956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🙒"/>
              <a:defRPr sz="1600"/>
            </a:lvl6pPr>
            <a:lvl7pPr marL="3200400" lvl="6" indent="-28956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🙓"/>
              <a:defRPr sz="1600"/>
            </a:lvl7pPr>
            <a:lvl8pPr marL="3657600" lvl="7" indent="-289559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🙑"/>
              <a:defRPr sz="1600"/>
            </a:lvl8pPr>
            <a:lvl9pPr marL="4114800" lvl="8" indent="-289559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🙐"/>
              <a:defRPr sz="1600"/>
            </a:lvl9pPr>
          </a:lstStyle>
          <a:p>
            <a:endParaRPr/>
          </a:p>
        </p:txBody>
      </p:sp>
      <p:sp>
        <p:nvSpPr>
          <p:cNvPr id="47" name="Google Shape;47;p34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60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{</a:t>
            </a:r>
            <a:endParaRPr sz="60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8" name="Google Shape;48;p34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60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{</a:t>
            </a:r>
            <a:endParaRPr sz="60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9" name="Google Shape;49;p34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4"/>
          <p:cNvSpPr txBox="1">
            <a:spLocks noGrp="1"/>
          </p:cNvSpPr>
          <p:nvPr>
            <p:ph type="dt" idx="10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sldNum" idx="12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25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5"/>
          <p:cNvSpPr txBox="1">
            <a:spLocks noGrp="1"/>
          </p:cNvSpPr>
          <p:nvPr>
            <p:ph type="dt" idx="10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sldNum" idx="12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25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ftr" idx="11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>
            <a:spLocks noGrp="1"/>
          </p:cNvSpPr>
          <p:nvPr>
            <p:ph type="dt" idx="10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sldNum" idx="12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25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ftr" idx="11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7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80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{</a:t>
            </a:r>
            <a:endParaRPr sz="80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64" name="Google Shape;64;p37"/>
          <p:cNvSpPr txBox="1">
            <a:spLocks noGrp="1"/>
          </p:cNvSpPr>
          <p:nvPr>
            <p:ph type="body" idx="1"/>
          </p:nvPr>
        </p:nvSpPr>
        <p:spPr>
          <a:xfrm>
            <a:off x="838200" y="685801"/>
            <a:ext cx="4343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440"/>
              <a:buChar char="🙐"/>
              <a:defRPr sz="2400"/>
            </a:lvl1pPr>
            <a:lvl2pPr marL="914400" lvl="1" indent="-312419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1320"/>
              <a:buChar char="🙒"/>
              <a:defRPr sz="2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🙓"/>
              <a:defRPr sz="2000"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 sz="1800"/>
            </a:lvl5pPr>
            <a:lvl6pPr marL="2743200" lvl="5" indent="-30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🙒"/>
              <a:defRPr sz="2000"/>
            </a:lvl6pPr>
            <a:lvl7pPr marL="3200400" lvl="6" indent="-30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🙓"/>
              <a:defRPr sz="2000"/>
            </a:lvl7pPr>
            <a:lvl8pPr marL="3657600" lvl="7" indent="-30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🙑"/>
              <a:defRPr sz="2000"/>
            </a:lvl8pPr>
            <a:lvl9pPr marL="4114800" lvl="8" indent="-30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🙐"/>
              <a:defRPr sz="2000"/>
            </a:lvl9pPr>
          </a:lstStyle>
          <a:p>
            <a:endParaRPr/>
          </a:p>
        </p:txBody>
      </p:sp>
      <p:sp>
        <p:nvSpPr>
          <p:cNvPr id="65" name="Google Shape;65;p37"/>
          <p:cNvSpPr txBox="1">
            <a:spLocks noGrp="1"/>
          </p:cNvSpPr>
          <p:nvPr>
            <p:ph type="body" idx="2"/>
          </p:nvPr>
        </p:nvSpPr>
        <p:spPr>
          <a:xfrm>
            <a:off x="5715000" y="685801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72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37"/>
          <p:cNvSpPr txBox="1">
            <a:spLocks noGrp="1"/>
          </p:cNvSpPr>
          <p:nvPr>
            <p:ph type="dt" idx="10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25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68" name="Google Shape;68;p37"/>
          <p:cNvSpPr txBox="1">
            <a:spLocks noGrp="1"/>
          </p:cNvSpPr>
          <p:nvPr>
            <p:ph type="ftr" idx="11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8"/>
          <p:cNvSpPr>
            <a:spLocks noGrp="1"/>
          </p:cNvSpPr>
          <p:nvPr>
            <p:ph type="pic" idx="2"/>
          </p:nvPr>
        </p:nvSpPr>
        <p:spPr>
          <a:xfrm>
            <a:off x="1219200" y="612775"/>
            <a:ext cx="6705600" cy="2546985"/>
          </a:xfrm>
          <a:prstGeom prst="rect">
            <a:avLst/>
          </a:prstGeom>
          <a:noFill/>
          <a:ln>
            <a:noFill/>
          </a:ln>
          <a:effectLst>
            <a:outerShdw blurRad="152400" dist="317500" dir="5400000" sx="90000" sy="-19000" rotWithShape="0">
              <a:srgbClr val="000000">
                <a:alpha val="14901"/>
              </a:srgbClr>
            </a:outerShdw>
          </a:effectLst>
        </p:spPr>
      </p:sp>
      <p:sp>
        <p:nvSpPr>
          <p:cNvPr id="72" name="Google Shape;72;p38"/>
          <p:cNvSpPr txBox="1">
            <a:spLocks noGrp="1"/>
          </p:cNvSpPr>
          <p:nvPr>
            <p:ph type="body" idx="1"/>
          </p:nvPr>
        </p:nvSpPr>
        <p:spPr>
          <a:xfrm>
            <a:off x="2743200" y="3453047"/>
            <a:ext cx="5029200" cy="720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72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3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60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{</a:t>
            </a:r>
            <a:endParaRPr sz="60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74" name="Google Shape;74;p38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dt" idx="10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25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ftr" idx="11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body" idx="1"/>
          </p:nvPr>
        </p:nvSpPr>
        <p:spPr>
          <a:xfrm rot="5400000">
            <a:off x="3276601" y="-457200"/>
            <a:ext cx="3505199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dt" idx="10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ftr" idx="11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25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0"/>
          <p:cNvSpPr txBox="1">
            <a:spLocks noGrp="1"/>
          </p:cNvSpPr>
          <p:nvPr>
            <p:ph type="title"/>
          </p:nvPr>
        </p:nvSpPr>
        <p:spPr>
          <a:xfrm rot="5400000">
            <a:off x="-914400" y="2133601"/>
            <a:ext cx="51816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body" idx="1"/>
          </p:nvPr>
        </p:nvSpPr>
        <p:spPr>
          <a:xfrm rot="5400000">
            <a:off x="3124200" y="457201"/>
            <a:ext cx="45720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9pPr>
          </a:lstStyle>
          <a:p>
            <a:endParaRPr/>
          </a:p>
        </p:txBody>
      </p:sp>
      <p:sp>
        <p:nvSpPr>
          <p:cNvPr id="87" name="Google Shape;87;p40"/>
          <p:cNvSpPr txBox="1">
            <a:spLocks noGrp="1"/>
          </p:cNvSpPr>
          <p:nvPr>
            <p:ph type="dt" idx="10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0"/>
          <p:cNvSpPr txBox="1">
            <a:spLocks noGrp="1"/>
          </p:cNvSpPr>
          <p:nvPr>
            <p:ph type="ftr" idx="11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0"/>
          <p:cNvSpPr txBox="1">
            <a:spLocks noGrp="1"/>
          </p:cNvSpPr>
          <p:nvPr>
            <p:ph type="sldNum" idx="12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25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4F4651">
                  <a:alpha val="35686"/>
                </a:srgbClr>
              </a:gs>
              <a:gs pos="100000">
                <a:srgbClr val="242852">
                  <a:alpha val="980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7" name="Google Shape;7;p29"/>
          <p:cNvSpPr/>
          <p:nvPr/>
        </p:nvSpPr>
        <p:spPr>
          <a:xfrm rot="-1875725">
            <a:off x="1373221" y="1038440"/>
            <a:ext cx="7240620" cy="5706987"/>
          </a:xfrm>
          <a:prstGeom prst="ellipse">
            <a:avLst/>
          </a:prstGeom>
          <a:gradFill>
            <a:gsLst>
              <a:gs pos="0">
                <a:srgbClr val="C3BCC5">
                  <a:alpha val="6666"/>
                </a:srgbClr>
              </a:gs>
              <a:gs pos="58000">
                <a:srgbClr val="242852">
                  <a:alpha val="0"/>
                </a:srgbClr>
              </a:gs>
              <a:gs pos="100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8" name="Google Shape;8;p29"/>
          <p:cNvSpPr/>
          <p:nvPr/>
        </p:nvSpPr>
        <p:spPr>
          <a:xfrm rot="-3943090">
            <a:off x="-274211" y="1165875"/>
            <a:ext cx="5538472" cy="4480459"/>
          </a:xfrm>
          <a:prstGeom prst="ellipse">
            <a:avLst/>
          </a:prstGeom>
          <a:gradFill>
            <a:gsLst>
              <a:gs pos="0">
                <a:srgbClr val="C3BCC5">
                  <a:alpha val="7843"/>
                </a:srgbClr>
              </a:gs>
              <a:gs pos="58000">
                <a:srgbClr val="242852">
                  <a:alpha val="0"/>
                </a:srgbClr>
              </a:gs>
              <a:gs pos="100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9" name="Google Shape;9;p29"/>
          <p:cNvSpPr/>
          <p:nvPr/>
        </p:nvSpPr>
        <p:spPr>
          <a:xfrm rot="-1875725">
            <a:off x="3277955" y="116854"/>
            <a:ext cx="6479362" cy="4754757"/>
          </a:xfrm>
          <a:prstGeom prst="ellipse">
            <a:avLst/>
          </a:prstGeom>
          <a:gradFill>
            <a:gsLst>
              <a:gs pos="0">
                <a:srgbClr val="C3BCC5">
                  <a:alpha val="7843"/>
                </a:srgbClr>
              </a:gs>
              <a:gs pos="58000">
                <a:srgbClr val="242852">
                  <a:alpha val="0"/>
                </a:srgbClr>
              </a:gs>
              <a:gs pos="100000">
                <a:srgbClr val="24285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  <a:defRPr sz="49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08610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Noto Sans Symbols"/>
              <a:buChar char="🙐"/>
              <a:defRPr sz="21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914400" marR="0" lvl="1" indent="-300990" algn="l" rtl="0">
              <a:spcBef>
                <a:spcPts val="380"/>
              </a:spcBef>
              <a:spcAft>
                <a:spcPts val="0"/>
              </a:spcAft>
              <a:buClr>
                <a:schemeClr val="lt1"/>
              </a:buClr>
              <a:buSzPts val="1140"/>
              <a:buFont typeface="Noto Sans Symbols"/>
              <a:buChar char="🙒"/>
              <a:defRPr sz="19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1371600" marR="0" lvl="2" indent="-293369" algn="l" rtl="0">
              <a:spcBef>
                <a:spcPts val="34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Noto Sans Symbols"/>
              <a:buChar char="🙓"/>
              <a:defRPr sz="17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828800" marR="0" lvl="3" indent="-289560" algn="l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Font typeface="Noto Sans Symbols"/>
              <a:buChar char="🙑"/>
              <a:defRPr sz="16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2286000" marR="0" lvl="4" indent="-285750" algn="l" rtl="0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🙐"/>
              <a:defRPr sz="15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743200" marR="0" lvl="5" indent="-281939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🙒"/>
              <a:defRPr sz="14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3200400" marR="0" lvl="6" indent="-281939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🙓"/>
              <a:defRPr sz="14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657600" marR="0" lvl="7" indent="-28194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🙑"/>
              <a:defRPr sz="14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4114800" marR="0" lvl="8" indent="-28194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🙐"/>
              <a:defRPr sz="14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0" marR="0" lvl="1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0" marR="0" lvl="2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0" marR="0" lvl="3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0" marR="0" lvl="4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0" marR="0" lvl="5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0" marR="0" lvl="6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0" marR="0" lvl="7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0" marR="0" lvl="8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S6lfZzXfANkIinTR8RQYIE_Z_UO_sVQX/edi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oJSYFu3pYk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DuZWV851oIU" TargetMode="External"/><Relationship Id="rId4" Type="http://schemas.openxmlformats.org/officeDocument/2006/relationships/hyperlink" Target="https://www.youtube.com/watch?v=lGESRsAmdr8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Uep3sqe35o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755576" y="1196752"/>
            <a:ext cx="7543800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alatino Linotype"/>
              <a:buNone/>
            </a:pPr>
            <a:r>
              <a:rPr lang="pl-PL"/>
              <a:t>Powstanie monodii akompaniowanej i dramma per musica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1187624" y="4581128"/>
            <a:ext cx="6172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r>
              <a:rPr lang="pl-PL"/>
              <a:t>Caccini, Peri, Viadana, Durante i inni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body" idx="1"/>
          </p:nvPr>
        </p:nvSpPr>
        <p:spPr>
          <a:xfrm>
            <a:off x="457200" y="3717032"/>
            <a:ext cx="8229600" cy="240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użyty po raz pierwszy przez Giovanniego Battistę Doniego, stanowił nawiązanie do muzyki Starożytnych Greków.</a:t>
            </a:r>
            <a:endParaRPr/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323528" y="2276872"/>
            <a:ext cx="8229600" cy="1714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alatino Linotype"/>
              <a:buNone/>
            </a:pPr>
            <a:r>
              <a:rPr lang="pl-PL" sz="3600"/>
              <a:t>Termin </a:t>
            </a:r>
            <a:r>
              <a:rPr lang="pl-PL" sz="3600">
                <a:solidFill>
                  <a:srgbClr val="FF0000"/>
                </a:solidFill>
              </a:rPr>
              <a:t>monodia</a:t>
            </a:r>
            <a:br>
              <a:rPr lang="pl-PL" sz="3600"/>
            </a:br>
            <a:r>
              <a:rPr lang="pl-PL" sz="3600"/>
              <a:t>w początkach XVII wieku odnosił się do stylu, w dzisiejszej literaturze oznacza zarówno </a:t>
            </a:r>
            <a:r>
              <a:rPr lang="pl-PL" sz="3600">
                <a:solidFill>
                  <a:srgbClr val="FF0000"/>
                </a:solidFill>
              </a:rPr>
              <a:t>gatunek</a:t>
            </a:r>
            <a:r>
              <a:rPr lang="pl-PL" sz="3600"/>
              <a:t> (monodie Cacciniego, monodie Periego) jak i </a:t>
            </a:r>
            <a:r>
              <a:rPr lang="pl-PL" sz="3600">
                <a:solidFill>
                  <a:srgbClr val="FF0000"/>
                </a:solidFill>
              </a:rPr>
              <a:t>styl</a:t>
            </a:r>
            <a:r>
              <a:rPr lang="pl-PL" sz="3600"/>
              <a:t> muzyczny.</a:t>
            </a:r>
            <a:br>
              <a:rPr lang="pl-PL" sz="3600"/>
            </a:b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body" idx="1"/>
          </p:nvPr>
        </p:nvSpPr>
        <p:spPr>
          <a:xfrm>
            <a:off x="2123728" y="1988840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Rozważania teoretyków nad muzyką grecką i nad kondycją muzyki współczesnej – postulaty estetyczne dla nowej muzyki;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Praktyka muzyczna końca XVI wieku: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Palatino Linotype"/>
              <a:buChar char="-"/>
            </a:pPr>
            <a:r>
              <a:rPr lang="pl-PL"/>
              <a:t>Utwory świeckie z akompaniamentem instrumentalnym (np. frottola);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Palatino Linotype"/>
              <a:buChar char="-"/>
            </a:pPr>
            <a:r>
              <a:rPr lang="pl-PL"/>
              <a:t>Praktyka wykonywania utworów polifonicznych solowo z towarzyszeniem instrumentów;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Palatino Linotype"/>
              <a:buChar char="-"/>
            </a:pPr>
            <a:r>
              <a:rPr lang="pl-PL"/>
              <a:t>Kult śpiewaków wirtuozów.</a:t>
            </a:r>
            <a:endParaRPr/>
          </a:p>
        </p:txBody>
      </p:sp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179512" y="188640"/>
            <a:ext cx="7543800" cy="1426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pl-PL"/>
              <a:t>Geneza monodii akompaniowanej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Harmonicznie koncypowana melodia głosu wokalnego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Emfatyczne traktowanie tekstu słownego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Stosowanie wirtuozowskich ozdobników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Basso continuo jako nosiciel treści harmonicznej</a:t>
            </a:r>
            <a:endParaRPr/>
          </a:p>
        </p:txBody>
      </p:sp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alatino Linotype"/>
              <a:buNone/>
            </a:pPr>
            <a:r>
              <a:rPr lang="pl-PL"/>
              <a:t>Cechy stylistyczne monodii akompaniowanej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body" idx="1"/>
          </p:nvPr>
        </p:nvSpPr>
        <p:spPr>
          <a:xfrm>
            <a:off x="1835700" y="2132850"/>
            <a:ext cx="6096000" cy="43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List Girolamo Meiego (inspiratora poglądów G. Bardiego) do V. Galileiego z 1572 roku, opublikowany w Wenecji w 1602 roku pt. „Discorso sopra la musica antica et moderna”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„Discorso mandato da Giovanni de Bardi a Giulio Caccini detto Romano sopra la musica antica e’l cantar bene”, rkp ok. 1578 rok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Traktat Vincenzo Galileiego „Dialogo della musica antica et della moderna” Florencja 1581.</a:t>
            </a:r>
            <a:endParaRPr/>
          </a:p>
          <a:p>
            <a:pPr marL="0" lvl="0" indent="0" algn="l" rtl="0">
              <a:spcBef>
                <a:spcPts val="42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20"/>
              </a:spcBef>
              <a:spcAft>
                <a:spcPts val="0"/>
              </a:spcAft>
              <a:buNone/>
            </a:pPr>
            <a:r>
              <a:rPr lang="pl-PL"/>
              <a:t>EMS https://www.youtube.com/watch?v=jVX3K9zCMMI</a:t>
            </a:r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467550" y="548676"/>
            <a:ext cx="7543800" cy="13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alatino Linotype"/>
              <a:buNone/>
            </a:pPr>
            <a:r>
              <a:rPr lang="pl-PL" sz="3600"/>
              <a:t>Pierwsze manifesty stylu monodycznego – w kręgu Cameraty Florenckiej (1573-1587)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f131464d7_0_0"/>
          <p:cNvSpPr txBox="1">
            <a:spLocks noGrp="1"/>
          </p:cNvSpPr>
          <p:nvPr>
            <p:ph type="body" idx="1"/>
          </p:nvPr>
        </p:nvSpPr>
        <p:spPr>
          <a:xfrm>
            <a:off x="2133600" y="685800"/>
            <a:ext cx="6096000" cy="408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pl-PL" sz="2700"/>
              <a:t>Elementy muzyki, które w odmienny sposób oddziałuja na człowieka (etos muzyki, działanie konatywne) występują w polifonii równocześnie, przez co ich działanie się znosi:</a:t>
            </a:r>
            <a:endParaRPr sz="2700"/>
          </a:p>
          <a:p>
            <a:pPr marL="457200" lvl="0" indent="-335280" algn="l" rtl="0">
              <a:spcBef>
                <a:spcPts val="360"/>
              </a:spcBef>
              <a:spcAft>
                <a:spcPts val="0"/>
              </a:spcAft>
              <a:buSzPts val="1680"/>
              <a:buChar char="-"/>
            </a:pPr>
            <a:r>
              <a:rPr lang="pl-PL" sz="2700"/>
              <a:t>dźwięki wysokie i niskie</a:t>
            </a:r>
            <a:endParaRPr sz="2700"/>
          </a:p>
          <a:p>
            <a:pPr marL="457200" lvl="0" indent="-335280" algn="l" rtl="0">
              <a:spcBef>
                <a:spcPts val="0"/>
              </a:spcBef>
              <a:spcAft>
                <a:spcPts val="0"/>
              </a:spcAft>
              <a:buSzPts val="1680"/>
              <a:buChar char="-"/>
            </a:pPr>
            <a:r>
              <a:rPr lang="pl-PL" sz="2700"/>
              <a:t>ruch szybki i powolny</a:t>
            </a:r>
            <a:endParaRPr sz="2700"/>
          </a:p>
          <a:p>
            <a:pPr marL="457200" lvl="0" indent="-335280" algn="l" rtl="0">
              <a:spcBef>
                <a:spcPts val="0"/>
              </a:spcBef>
              <a:spcAft>
                <a:spcPts val="0"/>
              </a:spcAft>
              <a:buSzPts val="1680"/>
              <a:buChar char="-"/>
            </a:pPr>
            <a:r>
              <a:rPr lang="pl-PL" sz="2700"/>
              <a:t>różne modi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-"/>
            </a:pPr>
            <a:r>
              <a:rPr lang="pl-PL" sz="2700"/>
              <a:t>różne słowa śpiewane jednocześnie</a:t>
            </a:r>
            <a:endParaRPr sz="2700"/>
          </a:p>
        </p:txBody>
      </p:sp>
      <p:sp>
        <p:nvSpPr>
          <p:cNvPr id="125" name="Google Shape;125;g33f131464d7_0_0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100"/>
              <a:t>Galilei - krytyka kontrapunktu</a:t>
            </a:r>
            <a:endParaRPr sz="4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>
            <a:spLocks noGrp="1"/>
          </p:cNvSpPr>
          <p:nvPr>
            <p:ph type="body" idx="1"/>
          </p:nvPr>
        </p:nvSpPr>
        <p:spPr>
          <a:xfrm>
            <a:off x="1979712" y="2492896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8288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80"/>
              <a:buNone/>
            </a:pPr>
            <a:r>
              <a:rPr lang="pl-PL" sz="2800"/>
              <a:t>Przedmowy do zbiorów liryk wokalnych:</a:t>
            </a:r>
            <a:endParaRPr/>
          </a:p>
          <a:p>
            <a:pPr marL="274320" lvl="0" indent="-256032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1680"/>
              <a:buChar char="🙐"/>
            </a:pPr>
            <a:r>
              <a:rPr lang="pl-PL" sz="2800"/>
              <a:t>Le nuove musiche (Florencja 1602)</a:t>
            </a:r>
            <a:endParaRPr/>
          </a:p>
          <a:p>
            <a:pPr marL="274320" lvl="0" indent="-256032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1680"/>
              <a:buChar char="🙐"/>
            </a:pPr>
            <a:r>
              <a:rPr lang="pl-PL" sz="2800"/>
              <a:t>Nuove musiche e nuova maniera di scrivere (Florencja 1614)</a:t>
            </a:r>
            <a:endParaRPr/>
          </a:p>
          <a:p>
            <a:pPr marL="18288" lvl="0" indent="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1680"/>
              <a:buNone/>
            </a:pPr>
            <a:r>
              <a:rPr lang="pl-PL" sz="2800">
                <a:solidFill>
                  <a:srgbClr val="FF0000"/>
                </a:solidFill>
              </a:rPr>
              <a:t>Recitar cantando – śpiewna mowa</a:t>
            </a:r>
            <a:endParaRPr sz="2800">
              <a:solidFill>
                <a:srgbClr val="FF0000"/>
              </a:solidFill>
            </a:endParaRPr>
          </a:p>
        </p:txBody>
      </p:sp>
      <p:sp>
        <p:nvSpPr>
          <p:cNvPr id="131" name="Google Shape;131;p6"/>
          <p:cNvSpPr txBox="1">
            <a:spLocks noGrp="1"/>
          </p:cNvSpPr>
          <p:nvPr>
            <p:ph type="title"/>
          </p:nvPr>
        </p:nvSpPr>
        <p:spPr>
          <a:xfrm>
            <a:off x="539552" y="1052736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pl-PL"/>
              <a:t>Caccini wobec teorii Cameraty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>
            <a:spLocks noGrp="1"/>
          </p:cNvSpPr>
          <p:nvPr>
            <p:ph type="body" idx="1"/>
          </p:nvPr>
        </p:nvSpPr>
        <p:spPr>
          <a:xfrm>
            <a:off x="1907704" y="2276872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Ma swe źródło w ogromnie popularnym w poprzednim wieku traktacie Baldassarre’a Castiglione „Il corteggiano” (Dworzanin)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charakteryzowały dwa terminy: </a:t>
            </a:r>
            <a:r>
              <a:rPr lang="pl-PL" b="1">
                <a:solidFill>
                  <a:srgbClr val="FF0000"/>
                </a:solidFill>
              </a:rPr>
              <a:t>sprezzatura</a:t>
            </a:r>
            <a:r>
              <a:rPr lang="pl-PL" b="1"/>
              <a:t> i </a:t>
            </a:r>
            <a:r>
              <a:rPr lang="pl-PL" b="1">
                <a:solidFill>
                  <a:srgbClr val="FF0000"/>
                </a:solidFill>
              </a:rPr>
              <a:t>grazia: </a:t>
            </a:r>
            <a:r>
              <a:rPr lang="pl-PL"/>
              <a:t>„wytworna nonszlancja”, „wyuczona naturalność” płynąca z doskonałego opanowania norm: „To jest prawdziwą sztuką, co sztuka się nie wydaje”.</a:t>
            </a:r>
            <a:endParaRPr/>
          </a:p>
          <a:p>
            <a:pPr marL="274320" lvl="0" indent="-17602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395536" y="692696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pl-PL"/>
              <a:t>Styl florencki w wokalnej praktyce wykonawczej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>
            <a:spLocks noGrp="1"/>
          </p:cNvSpPr>
          <p:nvPr>
            <p:ph type="body" idx="1"/>
          </p:nvPr>
        </p:nvSpPr>
        <p:spPr>
          <a:xfrm>
            <a:off x="2051720" y="1772816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sprezzatura - umiejętnośc nie trzymania się dokładnie zapisanego rytmu, lecz przyspieszania i zwalniania wartosci w zwiazku z wyrażanym afektem (</a:t>
            </a:r>
            <a:r>
              <a:rPr lang="pl-PL" i="1"/>
              <a:t>rubato</a:t>
            </a:r>
            <a:r>
              <a:rPr lang="pl-PL"/>
              <a:t>);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Grazia – zasady spiewania dające przyjemnośc słuchającym, lecz można wywnioskować, że upatruje on owej przyjemności przede wszystkim w stosowaniu przez śpiewaków ozdobników (wielu pisarzy zreszta określalo potem te figury jako </a:t>
            </a:r>
            <a:r>
              <a:rPr lang="pl-PL" i="1"/>
              <a:t>grazie</a:t>
            </a:r>
            <a:r>
              <a:rPr lang="pl-PL"/>
              <a:t>).</a:t>
            </a:r>
            <a:endParaRPr/>
          </a:p>
          <a:p>
            <a:pPr marL="274320" lvl="0" indent="-17602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</p:txBody>
      </p:sp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323528" y="332656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alatino Linotype"/>
              <a:buNone/>
            </a:pPr>
            <a:r>
              <a:rPr lang="pl-PL" sz="3200"/>
              <a:t>Znaczenie muzyczne terminów – wg. Cacciniego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>
            <a:spLocks noGrp="1"/>
          </p:cNvSpPr>
          <p:nvPr>
            <p:ph type="body" idx="1"/>
          </p:nvPr>
        </p:nvSpPr>
        <p:spPr>
          <a:xfrm>
            <a:off x="2267744" y="1844824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Związane ze zmianami dynamicznymi: </a:t>
            </a:r>
            <a:r>
              <a:rPr lang="pl-PL" i="1"/>
              <a:t>Esclamazione, Crescere e scemare, Scemar di voce.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Osiągane poprzez rozdrobnienie wartości rytmicznych: </a:t>
            </a:r>
            <a:r>
              <a:rPr lang="pl-PL" i="1"/>
              <a:t>trillo</a:t>
            </a:r>
            <a:r>
              <a:rPr lang="pl-PL"/>
              <a:t> (tremolo), </a:t>
            </a:r>
            <a:r>
              <a:rPr lang="pl-PL" i="1"/>
              <a:t>gruppo, groppo</a:t>
            </a:r>
            <a:r>
              <a:rPr lang="pl-PL"/>
              <a:t> (tryl), </a:t>
            </a:r>
            <a:r>
              <a:rPr lang="pl-PL" i="1"/>
              <a:t>accento, cascata</a:t>
            </a:r>
            <a:r>
              <a:rPr lang="pl-PL"/>
              <a:t>.</a:t>
            </a:r>
            <a:endParaRPr/>
          </a:p>
          <a:p>
            <a:pPr marL="18288" lvl="0" indent="0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r>
              <a:rPr lang="pl-PL"/>
              <a:t>Technika </a:t>
            </a:r>
            <a:r>
              <a:rPr lang="pl-PL" i="1"/>
              <a:t>ribatutta di gola</a:t>
            </a:r>
            <a:r>
              <a:rPr lang="pl-PL"/>
              <a:t>.</a:t>
            </a:r>
            <a:endParaRPr/>
          </a:p>
          <a:p>
            <a:pPr marL="274320" lvl="0" indent="-17602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</p:txBody>
      </p:sp>
      <p:sp>
        <p:nvSpPr>
          <p:cNvPr id="149" name="Google Shape;149;p9"/>
          <p:cNvSpPr txBox="1">
            <a:spLocks noGrp="1"/>
          </p:cNvSpPr>
          <p:nvPr>
            <p:ph type="title"/>
          </p:nvPr>
        </p:nvSpPr>
        <p:spPr>
          <a:xfrm>
            <a:off x="683568" y="620688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alatino Linotype"/>
              <a:buNone/>
            </a:pPr>
            <a:r>
              <a:rPr lang="pl-PL" sz="3200"/>
              <a:t>Figury ozdobne omawiane przez Cacciniego</a:t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1979712" y="1700808"/>
            <a:ext cx="6096000" cy="387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madrygały – utw. przekomponowane, teksty o bogatym ładunku emocjonalnym, melodyka pomiędzy arioso a recytatywem, ozdobiona koloraturami, b.c. w długich wartościach. Charakt. operowanie tercją małą dla wyrażenia treści poważnych i melancholijnych, także zmiana trybu związana ze zmianą emocji.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arie – struktura zwrotkowa (zwrotki albo o tym samym opr. muzycznym, albo dwa wzory na zmianę, albo wariacje stroficzne). Melodyka o płynnym przebiegu, często metrum trójdzielne, tempo żywe.</a:t>
            </a:r>
            <a:endParaRPr/>
          </a:p>
          <a:p>
            <a:pPr marL="274320" lvl="0" indent="-17602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</p:txBody>
      </p:sp>
      <p:sp>
        <p:nvSpPr>
          <p:cNvPr id="155" name="Google Shape;155;p10"/>
          <p:cNvSpPr txBox="1">
            <a:spLocks noGrp="1"/>
          </p:cNvSpPr>
          <p:nvPr>
            <p:ph type="title"/>
          </p:nvPr>
        </p:nvSpPr>
        <p:spPr>
          <a:xfrm>
            <a:off x="395536" y="404664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alatino Linotype"/>
              <a:buNone/>
            </a:pPr>
            <a:r>
              <a:rPr lang="pl-PL" sz="3200"/>
              <a:t>Twórczość kameralna Cacciniego – dwa gatunki monodyczne</a:t>
            </a:r>
            <a:endParaRPr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1475656" y="2492896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 i="1"/>
              <a:t>Cento concerto ecclesiastici</a:t>
            </a:r>
            <a:r>
              <a:rPr lang="pl-PL"/>
              <a:t>  (Rzym 1602), Lodovico da Viadana.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Asprillo Pacelli, (</a:t>
            </a:r>
            <a:r>
              <a:rPr lang="pl-PL" i="1"/>
              <a:t>Chorici psalmi et motecta)</a:t>
            </a:r>
            <a:r>
              <a:rPr lang="pl-PL"/>
              <a:t>, (Rzym 1599).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 i="1"/>
              <a:t>Arie Devote</a:t>
            </a:r>
            <a:r>
              <a:rPr lang="pl-PL"/>
              <a:t> Ottavio Durante (Rzym 1608).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Giovanni Geronimo Kapsperger </a:t>
            </a:r>
            <a:r>
              <a:rPr lang="pl-PL" i="1"/>
              <a:t>Libro primo di Motetti Passegiati</a:t>
            </a:r>
            <a:r>
              <a:rPr lang="pl-PL"/>
              <a:t>, (Rzym 1612).</a:t>
            </a:r>
            <a:endParaRPr/>
          </a:p>
          <a:p>
            <a:pPr marL="18288" lvl="0" indent="0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  <a:p>
            <a:pPr marL="274320" lvl="0" indent="-17602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</p:txBody>
      </p:sp>
      <p:sp>
        <p:nvSpPr>
          <p:cNvPr id="161" name="Google Shape;161;p11"/>
          <p:cNvSpPr txBox="1">
            <a:spLocks noGrp="1"/>
          </p:cNvSpPr>
          <p:nvPr>
            <p:ph type="title"/>
          </p:nvPr>
        </p:nvSpPr>
        <p:spPr>
          <a:xfrm>
            <a:off x="323528" y="620688"/>
            <a:ext cx="7543800" cy="1728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alatino Linotype"/>
              <a:buNone/>
            </a:pPr>
            <a:r>
              <a:rPr lang="pl-PL" sz="3200"/>
              <a:t>Monodia w ośrodku rzymskim</a:t>
            </a:r>
            <a:br>
              <a:rPr lang="pl-PL" sz="3200"/>
            </a:br>
            <a:r>
              <a:rPr lang="pl-PL" sz="3200">
                <a:solidFill>
                  <a:srgbClr val="FF0000"/>
                </a:solidFill>
              </a:rPr>
              <a:t>Uwaga! Zdezaktualizowany pogląd Bukofzera o konserwatyzmie tego ośrodka</a:t>
            </a:r>
            <a:endParaRPr sz="3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17602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</p:txBody>
      </p:sp>
      <p:sp>
        <p:nvSpPr>
          <p:cNvPr id="167" name="Google Shape;167;p12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pl-PL" u="sng">
                <a:solidFill>
                  <a:schemeClr val="hlink"/>
                </a:solidFill>
                <a:hlinkClick r:id="rId3"/>
              </a:rPr>
              <a:t>https://docs.google.com/document/d/1S6lfZzXfANkIinTR8RQYIE_Z_UO_sVQX/edit</a:t>
            </a:r>
            <a:br>
              <a:rPr lang="pl-PL"/>
            </a:br>
            <a:r>
              <a:rPr lang="pl-PL"/>
              <a:t> </a:t>
            </a:r>
            <a:br>
              <a:rPr lang="pl-PL"/>
            </a:br>
            <a:endParaRPr/>
          </a:p>
        </p:txBody>
      </p:sp>
      <p:pic>
        <p:nvPicPr>
          <p:cNvPr id="168" name="Google Shape;16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7664" y="188640"/>
            <a:ext cx="5904656" cy="6408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17602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endParaRPr/>
          </a:p>
        </p:txBody>
      </p:sp>
      <p:pic>
        <p:nvPicPr>
          <p:cNvPr id="175" name="Google Shape;17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3648" y="332656"/>
            <a:ext cx="6796236" cy="6336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17602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</p:txBody>
      </p:sp>
      <p:sp>
        <p:nvSpPr>
          <p:cNvPr id="181" name="Google Shape;181;p14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endParaRPr/>
          </a:p>
        </p:txBody>
      </p:sp>
      <p:pic>
        <p:nvPicPr>
          <p:cNvPr id="182" name="Google Shape;18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1640" y="260648"/>
            <a:ext cx="6552728" cy="648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17602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</p:txBody>
      </p:sp>
      <p:sp>
        <p:nvSpPr>
          <p:cNvPr id="188" name="Google Shape;188;p15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endParaRPr/>
          </a:p>
        </p:txBody>
      </p:sp>
      <p:pic>
        <p:nvPicPr>
          <p:cNvPr id="189" name="Google Shape;18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6706" y="116632"/>
            <a:ext cx="6408712" cy="6408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 u="sng">
                <a:solidFill>
                  <a:schemeClr val="hlink"/>
                </a:solidFill>
                <a:hlinkClick r:id="rId3"/>
              </a:rPr>
              <a:t>https://www.youtube.com/watch?v=roJSYFu3pYk</a:t>
            </a:r>
            <a:r>
              <a:rPr lang="pl-PL"/>
              <a:t> Caccini ,Amarilli mia bella [madrygał] (Le Nuove Musiche, 1602)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 u="sng">
                <a:solidFill>
                  <a:schemeClr val="hlink"/>
                </a:solidFill>
                <a:hlinkClick r:id="rId4"/>
              </a:rPr>
              <a:t>https://www.youtube.com/watch?v=lGESRsAmdr8</a:t>
            </a:r>
            <a:r>
              <a:rPr lang="pl-PL"/>
              <a:t> Caccini, Amor ch’attendi [aria] (Le Nuove musiche, 1602)</a:t>
            </a:r>
            <a:endParaRPr u="sng">
              <a:solidFill>
                <a:schemeClr val="hlink"/>
              </a:solidFill>
              <a:hlinkClick r:id="rId5"/>
            </a:endParaRPr>
          </a:p>
          <a:p>
            <a:pPr marL="274320" lvl="0" indent="-17602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 u="sng">
              <a:solidFill>
                <a:schemeClr val="hlink"/>
              </a:solidFill>
              <a:hlinkClick r:id="rId5"/>
            </a:endParaRPr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 u="sng">
                <a:solidFill>
                  <a:schemeClr val="hlink"/>
                </a:solidFill>
                <a:hlinkClick r:id="rId5"/>
              </a:rPr>
              <a:t>https://www.youtube.com/watch?v=DuZWV851oIU</a:t>
            </a:r>
            <a:r>
              <a:rPr lang="pl-PL"/>
              <a:t> Durante, O Domine Jesu Christe (Arie Devote 1608)</a:t>
            </a:r>
            <a:endParaRPr/>
          </a:p>
        </p:txBody>
      </p:sp>
      <p:sp>
        <p:nvSpPr>
          <p:cNvPr id="195" name="Google Shape;195;p16"/>
          <p:cNvSpPr txBox="1">
            <a:spLocks noGrp="1"/>
          </p:cNvSpPr>
          <p:nvPr>
            <p:ph type="title"/>
          </p:nvPr>
        </p:nvSpPr>
        <p:spPr>
          <a:xfrm>
            <a:off x="827584" y="5157192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pl-PL"/>
              <a:t>Przykłady utworów monodycznych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Char char="🙐"/>
            </a:pPr>
            <a:r>
              <a:rPr lang="pl-PL" sz="2400"/>
              <a:t>Podstawowym postulatem Cameraty była dominacja słowa nad rytmem i harmonią, z tego wynikały kolejne:</a:t>
            </a:r>
            <a:endParaRPr sz="2000"/>
          </a:p>
          <a:p>
            <a:pPr marL="640080" lvl="1" indent="-256032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🙒"/>
            </a:pPr>
            <a:r>
              <a:rPr lang="pl-PL" sz="2000"/>
              <a:t>zrozumiałość tekstu, a więc najlepszy jest śpiew solowy z akompaniamentem, zamiast polifonii;</a:t>
            </a:r>
            <a:endParaRPr sz="1800"/>
          </a:p>
          <a:p>
            <a:pPr marL="640080" lvl="1" indent="-256032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🙒"/>
            </a:pPr>
            <a:r>
              <a:rPr lang="pl-PL" sz="2000"/>
              <a:t>słowa powinny być śpiewane w taki sposób, który najlepiej naśladowałby mowę;</a:t>
            </a:r>
            <a:endParaRPr sz="1800"/>
          </a:p>
          <a:p>
            <a:pPr marL="640080" lvl="1" indent="-256032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🙒"/>
            </a:pPr>
            <a:r>
              <a:rPr lang="pl-PL" sz="2000"/>
              <a:t>melodia nie ma naśladować literalnego znaczenia słów, lecz emocje zawarte w tekście.</a:t>
            </a:r>
            <a:endParaRPr sz="1800"/>
          </a:p>
          <a:p>
            <a:pPr marL="274320" lvl="0" indent="-17602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title"/>
          </p:nvPr>
        </p:nvSpPr>
        <p:spPr>
          <a:xfrm>
            <a:off x="827584" y="4005064"/>
            <a:ext cx="7543800" cy="235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alatino Linotype"/>
              <a:buNone/>
            </a:pPr>
            <a:r>
              <a:rPr lang="pl-PL" sz="3600"/>
              <a:t>Rozważania członków Cameraty florenckiej oraz Akademii Jacopo Corsiego (lata 90-te) dały podstawy estetyczne monodii oraz operze</a:t>
            </a:r>
            <a:endParaRPr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Pierwsze zachowane opery zostały wystawione w 1600 roku, były to </a:t>
            </a:r>
            <a:r>
              <a:rPr lang="pl-PL" i="1"/>
              <a:t>La rappresentatione di anima e di corpo</a:t>
            </a:r>
            <a:r>
              <a:rPr lang="pl-PL"/>
              <a:t> Emilio de Cavalieri (Rzym), </a:t>
            </a:r>
            <a:r>
              <a:rPr lang="pl-PL" i="1"/>
              <a:t>Euridice </a:t>
            </a:r>
            <a:r>
              <a:rPr lang="pl-PL"/>
              <a:t>Periego (z kilkoma numerami dodanymi przez Caccicniego). </a:t>
            </a:r>
            <a:r>
              <a:rPr lang="pl-PL" i="1"/>
              <a:t>Euridice </a:t>
            </a:r>
            <a:r>
              <a:rPr lang="pl-PL"/>
              <a:t>Cacciniego została w tymże roku 1600 wydana, lecz wystawiona dopiero w roku 1602.</a:t>
            </a:r>
            <a:endParaRPr/>
          </a:p>
          <a:p>
            <a:pPr marL="274320" lvl="0" indent="-17602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</p:txBody>
      </p:sp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83568" y="4149080"/>
            <a:ext cx="7543800" cy="229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alatino Linotype"/>
              <a:buNone/>
            </a:pPr>
            <a:r>
              <a:rPr lang="pl-PL" sz="2000"/>
              <a:t>(wcześniej – próby monodyczne Galileiego: monolog Ugolina i Lament Jeremiasza z ok.1582, oraz cząstki intermediów do </a:t>
            </a:r>
            <a:r>
              <a:rPr lang="pl-PL" sz="2000" i="1"/>
              <a:t>La Pellegrina</a:t>
            </a:r>
            <a:r>
              <a:rPr lang="pl-PL" sz="2000"/>
              <a:t> z 1589). </a:t>
            </a:r>
            <a:br>
              <a:rPr lang="pl-PL" sz="2000"/>
            </a:b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778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r>
              <a:rPr lang="pl-PL" dirty="0"/>
              <a:t>Intermedia  były dla powstania opery istotne z dwóch powodów:</a:t>
            </a:r>
            <a:endParaRPr lang="en-US" dirty="0"/>
          </a:p>
          <a:p>
            <a:pPr marL="274320" lvl="0" indent="-255905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 dirty="0"/>
              <a:t>przybliżyły poetom i muzykom ideę ścisłego współdziałania dramatu i muzyki;</a:t>
            </a:r>
            <a:endParaRPr dirty="0"/>
          </a:p>
          <a:p>
            <a:pPr marL="274320" lvl="0" indent="-255905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 dirty="0"/>
              <a:t>zawierały wiele elementów antycypujących elementy późniejszej opery: śpiewane teksty dramatu, taniec, okazałą scenografie i spektakularne efekty teatralne. </a:t>
            </a:r>
            <a:endParaRPr dirty="0"/>
          </a:p>
        </p:txBody>
      </p:sp>
      <p:sp>
        <p:nvSpPr>
          <p:cNvPr id="213" name="Google Shape;213;p19"/>
          <p:cNvSpPr txBox="1">
            <a:spLocks noGrp="1"/>
          </p:cNvSpPr>
          <p:nvPr>
            <p:ph type="title"/>
          </p:nvPr>
        </p:nvSpPr>
        <p:spPr>
          <a:xfrm>
            <a:off x="683568" y="4509120"/>
            <a:ext cx="7543800" cy="200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alatino Linotype"/>
              <a:buNone/>
            </a:pPr>
            <a:r>
              <a:rPr lang="pl-PL" sz="2400"/>
              <a:t>Intermedia muzyczne do La Pellegrina Girolamo Bargagliego. Wystawienie miało miejsce we Florencji w 1589 roku z okazji ślubu księcia Ferdynanda de Medici z Krystyna Lotaryńską, edycja 1591.</a:t>
            </a:r>
            <a:br>
              <a:rPr lang="pl-PL" sz="2400"/>
            </a:b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W jego pałacu odbywały się spotkania Cameraty florenckiej (Camerata di Bardi, w latach  ok. 1570/73-1587/92). On też był organizatorem dworskich uroczystości na dworze Medyceuszy w czasach formowania się idei dramma per musica, organizował m.in. Przedstawienia teatralne z intermediami muzycznymi.</a:t>
            </a:r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pl-PL"/>
              <a:t>Giovanni de Bardi conte di Vernio (1534-1612)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8288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</a:pPr>
            <a:r>
              <a:rPr lang="pl-PL" sz="2400"/>
              <a:t>Favola pastorale</a:t>
            </a:r>
            <a:endParaRPr/>
          </a:p>
          <a:p>
            <a:pPr marL="18288" lvl="0" indent="0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  <a:p>
            <a:pPr marL="18288" lvl="0" indent="0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r>
              <a:rPr lang="pl-PL"/>
              <a:t>Wersja Periego jest bardziej dramatyczna i ekspresyjna, C. bardziej melodyjna i daje więcej mozliwości popisu wokalnego. Brak uwertur i ustępów instrumentalnych ( u Periego w ostatnim chórze pojawia się ritornell).</a:t>
            </a:r>
            <a:endParaRPr/>
          </a:p>
          <a:p>
            <a:pPr marL="274320" lvl="0" indent="-17602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alatino Linotype"/>
              <a:buNone/>
            </a:pPr>
            <a:r>
              <a:rPr lang="pl-PL" sz="2400"/>
              <a:t>„</a:t>
            </a:r>
            <a:r>
              <a:rPr lang="pl-PL" sz="2400" i="1"/>
              <a:t>Eurydyki</a:t>
            </a:r>
            <a:r>
              <a:rPr lang="pl-PL" sz="2400"/>
              <a:t>” Periego i Cacciniego, libretto Ottavio Rinucciniego (1600).</a:t>
            </a:r>
            <a:br>
              <a:rPr lang="pl-PL" sz="2400"/>
            </a:b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18288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0000"/>
              <a:buNone/>
            </a:pPr>
            <a:r>
              <a:rPr lang="pl-PL"/>
              <a:t>Florencja:  Francesca Caccini La liberazione Ruggiero a Isola d’Alcina (1625), M. da Gagliano </a:t>
            </a:r>
            <a:r>
              <a:rPr lang="pl-PL" i="1"/>
              <a:t>La Flora</a:t>
            </a:r>
            <a:r>
              <a:rPr lang="pl-PL"/>
              <a:t> (Florencja 1628, we współpracy z Perim)</a:t>
            </a:r>
            <a:endParaRPr/>
          </a:p>
          <a:p>
            <a:pPr marL="18288" lvl="0" indent="0" algn="l" rtl="0">
              <a:spcBef>
                <a:spcPts val="388"/>
              </a:spcBef>
              <a:spcAft>
                <a:spcPts val="0"/>
              </a:spcAft>
              <a:buClr>
                <a:schemeClr val="lt1"/>
              </a:buClr>
              <a:buSzPct val="60000"/>
              <a:buNone/>
            </a:pPr>
            <a:r>
              <a:rPr lang="pl-PL"/>
              <a:t>Inne ośrodki:</a:t>
            </a:r>
            <a:endParaRPr/>
          </a:p>
          <a:p>
            <a:pPr marL="18288" lvl="0" indent="0" algn="l" rtl="0">
              <a:spcBef>
                <a:spcPts val="388"/>
              </a:spcBef>
              <a:spcAft>
                <a:spcPts val="0"/>
              </a:spcAft>
              <a:buClr>
                <a:schemeClr val="lt1"/>
              </a:buClr>
              <a:buSzPct val="60000"/>
              <a:buNone/>
            </a:pPr>
            <a:r>
              <a:rPr lang="pl-PL"/>
              <a:t>Mantua: </a:t>
            </a:r>
            <a:r>
              <a:rPr lang="pl-PL">
                <a:solidFill>
                  <a:srgbClr val="FF0000"/>
                </a:solidFill>
              </a:rPr>
              <a:t>Montevetrdi L’Orfeo (1606</a:t>
            </a:r>
            <a:r>
              <a:rPr lang="pl-PL"/>
              <a:t>), Marco da Gagliano </a:t>
            </a:r>
            <a:r>
              <a:rPr lang="pl-PL" i="1"/>
              <a:t>Dafne</a:t>
            </a:r>
            <a:r>
              <a:rPr lang="pl-PL"/>
              <a:t> (Mantua, 1608)– libretto adaptacja Rinucciniego.</a:t>
            </a:r>
            <a:endParaRPr/>
          </a:p>
          <a:p>
            <a:pPr marL="18288" lvl="0" indent="0" algn="l" rtl="0">
              <a:spcBef>
                <a:spcPts val="388"/>
              </a:spcBef>
              <a:spcAft>
                <a:spcPts val="0"/>
              </a:spcAft>
              <a:buClr>
                <a:schemeClr val="lt1"/>
              </a:buClr>
              <a:buSzPct val="60000"/>
              <a:buNone/>
            </a:pPr>
            <a:r>
              <a:rPr lang="pl-PL"/>
              <a:t>Rzym 1610-1650 : Agostino Agazzariego (Eumelio 1606 – powstała w seminarium jezuickim, wyd. i wykonana w Wenecji), Stefano Landiego (La mortre d’Orfeo 1619, Sant’ Alessio 1632) i Domenico Mazzocchiego (La catena d’Adone, La Galatea)</a:t>
            </a:r>
            <a:endParaRPr/>
          </a:p>
        </p:txBody>
      </p:sp>
      <p:sp>
        <p:nvSpPr>
          <p:cNvPr id="231" name="Google Shape;231;p22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alatino Linotype"/>
              <a:buNone/>
            </a:pPr>
            <a:r>
              <a:rPr lang="pl-PL" sz="2800"/>
              <a:t>Pierwszy okres rozwoju opery: okres </a:t>
            </a:r>
            <a:r>
              <a:rPr lang="pl-PL" sz="2800" i="1"/>
              <a:t>dramma per musica</a:t>
            </a:r>
            <a:r>
              <a:rPr lang="pl-PL" sz="2800"/>
              <a:t>, opera florencka, opera dworska</a:t>
            </a:r>
            <a:endParaRPr sz="2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418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Za pierwsza operę komiczna uchodzi </a:t>
            </a:r>
            <a:r>
              <a:rPr lang="pl-PL" i="1"/>
              <a:t>Diana schernita</a:t>
            </a:r>
            <a:r>
              <a:rPr lang="pl-PL"/>
              <a:t> (Diana wyszydzona) Giacinto Cornacchiolego, parodiująca monodie florencką. Za tego, kto położył podwaliny tradycji włoskiej opery buffa uważa się librecistę G. Rospigliosiego: Ch sofre, speri 1639 (muz. Mazzocchi/Marazzoli), Dal male il bene 1653 (Abbattini/Marazzoli).</a:t>
            </a:r>
            <a:endParaRPr/>
          </a:p>
          <a:p>
            <a:pPr marL="274320" lvl="0" indent="-17602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</p:txBody>
      </p:sp>
      <p:sp>
        <p:nvSpPr>
          <p:cNvPr id="237" name="Google Shape;237;p23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alatino Linotype"/>
              <a:buNone/>
            </a:pPr>
            <a:r>
              <a:rPr lang="pl-PL" sz="2800"/>
              <a:t>Rzym – pierwsze opery buffa</a:t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Recytatyw – ma być bardzo zbliżony do intonacji mowy, jednak jego artykulacja w przeciwieństwie do mówienia jest diastematyczna (nieciągła) i spowolniona (Peri, przedmowa do L’Euridice 1600). Akordy b.c. tylko na akcentowanych sylabach. Tekst traktowany sylabicznie, bez zdobień.</a:t>
            </a:r>
            <a:endParaRPr/>
          </a:p>
        </p:txBody>
      </p:sp>
      <p:sp>
        <p:nvSpPr>
          <p:cNvPr id="243" name="Google Shape;243;p24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pl-PL"/>
              <a:t>Współczynniki formy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Aria – rozumienie terminu przez Włochów (element melodyczny w utworze)</a:t>
            </a:r>
            <a:endParaRPr/>
          </a:p>
          <a:p>
            <a:pPr marL="274320" lvl="0" indent="-17602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Aria – w pierwszych drammi występowała rzadko (tam, gdzie to usprawiedliwiała fabuła) wymagała tekstu stroficznego</a:t>
            </a:r>
            <a:endParaRPr/>
          </a:p>
        </p:txBody>
      </p:sp>
      <p:sp>
        <p:nvSpPr>
          <p:cNvPr id="249" name="Google Shape;249;p25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pl-PL"/>
              <a:t>Współczynniki formy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5603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Chór – początkowo jak w dramacie greckim komentował wydarzenia, przedstawiał refleksję, dokonywał oceny moralnej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Z czasem zaczął pełnić rolę dramatis personae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Niekiedy kompozytorzy partie tekatu przeznaczone dla Chóru opracowywali solowo (Uno del coro – bohater bezimienny).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W pierwszych drammi wiekszośc chórów homorytmiczna, w pełni zrozumiały tekst</a:t>
            </a:r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pl-PL"/>
              <a:t>Współczynniki formy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8288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r>
              <a:rPr lang="pl-PL"/>
              <a:t>Ustępy instrumentalne: poczatkowo rola instrumentów raczej nieoznaczona, poza b.c., Monteverdi dokładnie oznacza rodzaj  instrumentu i partie instrumentalne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Sinfonia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Ritornel</a:t>
            </a:r>
            <a:endParaRPr/>
          </a:p>
          <a:p>
            <a:pPr marL="274320" lvl="0" indent="-256032" algn="l" rtl="0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Char char="🙐"/>
            </a:pPr>
            <a:r>
              <a:rPr lang="pl-PL"/>
              <a:t>Ballo</a:t>
            </a:r>
            <a:endParaRPr/>
          </a:p>
        </p:txBody>
      </p:sp>
      <p:sp>
        <p:nvSpPr>
          <p:cNvPr id="261" name="Google Shape;261;p27"/>
          <p:cNvSpPr txBox="1"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pl-PL"/>
              <a:t>Współczynniki formy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17602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</a:pPr>
            <a:endParaRPr/>
          </a:p>
        </p:txBody>
      </p:sp>
      <p:sp>
        <p:nvSpPr>
          <p:cNvPr id="267" name="Google Shape;267;p28"/>
          <p:cNvSpPr txBox="1">
            <a:spLocks noGrp="1"/>
          </p:cNvSpPr>
          <p:nvPr>
            <p:ph type="title"/>
          </p:nvPr>
        </p:nvSpPr>
        <p:spPr>
          <a:xfrm>
            <a:off x="683568" y="486916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alatino Linotype"/>
              <a:buNone/>
            </a:pPr>
            <a:r>
              <a:rPr lang="pl-PL" sz="3600"/>
              <a:t>L’orfeo Monteverdiego/Alessandro Striggio (Mantua, 1607, w karnawale, dla członków Accademia degli Invaghiti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alatino Linotype"/>
              <a:buNone/>
            </a:pPr>
            <a:r>
              <a:rPr lang="pl-PL" sz="3600" u="sng">
                <a:solidFill>
                  <a:schemeClr val="hlink"/>
                </a:solidFill>
                <a:hlinkClick r:id="rId3"/>
              </a:rPr>
              <a:t>https://www.youtube.com/watch?v=jUep3sqe35o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alatino Linotype"/>
              <a:buNone/>
            </a:pPr>
            <a:r>
              <a:rPr lang="pl-PL" sz="3600"/>
              <a:t>https://www.youtube.com/watch?v=wAebOkFWo9U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mentarny">
  <a:themeElements>
    <a:clrScheme name="Elementarny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EA736F3E4807409FC2AD1DF131DC97" ma:contentTypeVersion="7" ma:contentTypeDescription="Utwórz nowy dokument." ma:contentTypeScope="" ma:versionID="2f65554e001a104de1e837ede77d9b54">
  <xsd:schema xmlns:xsd="http://www.w3.org/2001/XMLSchema" xmlns:xs="http://www.w3.org/2001/XMLSchema" xmlns:p="http://schemas.microsoft.com/office/2006/metadata/properties" xmlns:ns2="d69dc642-48f7-4e58-8e1f-5ae592413238" targetNamespace="http://schemas.microsoft.com/office/2006/metadata/properties" ma:root="true" ma:fieldsID="7eb54fb987e1b7a686c2de0228e15e3b" ns2:_="">
    <xsd:import namespace="d69dc642-48f7-4e58-8e1f-5ae5924132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dc642-48f7-4e58-8e1f-5ae5924132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02471D-261C-4B76-A518-6FF77CD3258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795BAD-C080-403F-872A-B83E920FF0D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125E43A-BDD3-4185-9F70-9B27305040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9dc642-48f7-4e58-8e1f-5ae5924132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29</Slides>
  <Notes>29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Elementarny</vt:lpstr>
      <vt:lpstr>Powstanie monodii akompaniowanej i dramma per musica</vt:lpstr>
      <vt:lpstr>Termin monodia w początkach XVII wieku odnosił się do stylu, w dzisiejszej literaturze oznacza zarówno gatunek (monodie Cacciniego, monodie Periego) jak i styl muzyczny. </vt:lpstr>
      <vt:lpstr>Geneza monodii akompaniowanej</vt:lpstr>
      <vt:lpstr>Cechy stylistyczne monodii akompaniowanej</vt:lpstr>
      <vt:lpstr>Pierwsze manifesty stylu monodycznego – w kręgu Cameraty Florenckiej (1573-1587)</vt:lpstr>
      <vt:lpstr>Galilei - krytyka kontrapunktu</vt:lpstr>
      <vt:lpstr>Caccini wobec teorii Cameraty</vt:lpstr>
      <vt:lpstr>Styl florencki w wokalnej praktyce wykonawczej</vt:lpstr>
      <vt:lpstr>Znaczenie muzyczne terminów – wg. Cacciniego</vt:lpstr>
      <vt:lpstr>Figury ozdobne omawiane przez Cacciniego</vt:lpstr>
      <vt:lpstr>Twórczość kameralna Cacciniego – dwa gatunki monodyczne</vt:lpstr>
      <vt:lpstr>Monodia w ośrodku rzymskim Uwaga! Zdezaktualizowany pogląd Bukofzera o konserwatyzmie tego ośrodka</vt:lpstr>
      <vt:lpstr>https://docs.google.com/document/d/1S6lfZzXfANkIinTR8RQYIE_Z_UO_sVQX/edit   </vt:lpstr>
      <vt:lpstr>PowerPoint Presentation</vt:lpstr>
      <vt:lpstr>PowerPoint Presentation</vt:lpstr>
      <vt:lpstr>PowerPoint Presentation</vt:lpstr>
      <vt:lpstr>Przykłady utworów monodycznych</vt:lpstr>
      <vt:lpstr>Rozważania członków Cameraty florenckiej oraz Akademii Jacopo Corsiego (lata 90-te) dały podstawy estetyczne monodii oraz operze</vt:lpstr>
      <vt:lpstr>(wcześniej – próby monodyczne Galileiego: monolog Ugolina i Lament Jeremiasza z ok.1582, oraz cząstki intermediów do La Pellegrina z 1589).  </vt:lpstr>
      <vt:lpstr>Intermedia muzyczne do La Pellegrina Girolamo Bargagliego. Wystawienie miało miejsce we Florencji w 1589 roku z okazji ślubu księcia Ferdynanda de Medici z Krystyna Lotaryńską, edycja 1591. </vt:lpstr>
      <vt:lpstr>Giovanni de Bardi conte di Vernio (1534-1612)</vt:lpstr>
      <vt:lpstr>„Eurydyki” Periego i Cacciniego, libretto Ottavio Rinucciniego (1600). </vt:lpstr>
      <vt:lpstr>Pierwszy okres rozwoju opery: okres dramma per musica, opera florencka, opera dworska</vt:lpstr>
      <vt:lpstr>Rzym – pierwsze opery buffa</vt:lpstr>
      <vt:lpstr>Współczynniki formy</vt:lpstr>
      <vt:lpstr>Współczynniki formy</vt:lpstr>
      <vt:lpstr>Współczynniki formy</vt:lpstr>
      <vt:lpstr>Współczynniki formy</vt:lpstr>
      <vt:lpstr>L’orfeo Monteverdiego/Alessandro Striggio (Mantua, 1607, w karnawale, dla członków Accademia degli Invaghiti https://www.youtube.com/watch?v=jUep3sqe35o https://www.youtube.com/watch?v=wAebOkFWo9U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Magda i Tomek</dc:creator>
  <cp:revision>4</cp:revision>
  <dcterms:created xsi:type="dcterms:W3CDTF">2013-03-12T10:38:24Z</dcterms:created>
  <dcterms:modified xsi:type="dcterms:W3CDTF">2025-05-29T18:00:43Z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0x010100F1EA736F3E4807409FC2AD1DF131DC97</vt:lpwstr>
  </property>
</Properties>
</file>