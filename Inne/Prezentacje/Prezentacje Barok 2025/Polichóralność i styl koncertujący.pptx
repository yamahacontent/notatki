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1"/>
  </p:sldMasterIdLst>
  <p:sldIdLst>
    <p:sldId id="256" r:id="rId2"/>
    <p:sldId id="269" r:id="rId3"/>
    <p:sldId id="257" r:id="rId4"/>
    <p:sldId id="258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68" r:id="rId13"/>
    <p:sldId id="266" r:id="rId14"/>
    <p:sldId id="267" r:id="rId15"/>
    <p:sldId id="271" r:id="rId16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7E58ACEB-D20E-4AFC-ACA4-E7A2E50D2664}" type="datetimeFigureOut">
              <a:rPr lang="pl-PL" smtClean="0"/>
              <a:t>28.03.2025</a:t>
            </a:fld>
            <a:endParaRPr lang="pl-PL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41EDE54-299D-42FD-8C3F-001B2EB4AED1}" type="slidenum">
              <a:rPr lang="pl-PL" smtClean="0"/>
              <a:t>‹#›</a:t>
            </a:fld>
            <a:endParaRPr lang="pl-PL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ACEB-D20E-4AFC-ACA4-E7A2E50D2664}" type="datetimeFigureOut">
              <a:rPr lang="pl-PL" smtClean="0"/>
              <a:t>28.03.2025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DE54-299D-42FD-8C3F-001B2EB4AED1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ACEB-D20E-4AFC-ACA4-E7A2E50D2664}" type="datetimeFigureOut">
              <a:rPr lang="pl-PL" smtClean="0"/>
              <a:t>28.03.2025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DE54-299D-42FD-8C3F-001B2EB4AED1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ACEB-D20E-4AFC-ACA4-E7A2E50D2664}" type="datetimeFigureOut">
              <a:rPr lang="pl-PL" smtClean="0"/>
              <a:t>28.03.2025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DE54-299D-42FD-8C3F-001B2EB4AED1}" type="slidenum">
              <a:rPr lang="pl-PL" smtClean="0"/>
              <a:t>‹#›</a:t>
            </a:fld>
            <a:endParaRPr lang="pl-P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ACEB-D20E-4AFC-ACA4-E7A2E50D2664}" type="datetimeFigureOut">
              <a:rPr lang="pl-PL" smtClean="0"/>
              <a:t>28.03.2025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DE54-299D-42FD-8C3F-001B2EB4AED1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ACEB-D20E-4AFC-ACA4-E7A2E50D2664}" type="datetimeFigureOut">
              <a:rPr lang="pl-PL" smtClean="0"/>
              <a:t>28.03.2025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DE54-299D-42FD-8C3F-001B2EB4AED1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ACEB-D20E-4AFC-ACA4-E7A2E50D2664}" type="datetimeFigureOut">
              <a:rPr lang="pl-PL" smtClean="0"/>
              <a:t>28.03.2025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DE54-299D-42FD-8C3F-001B2EB4AED1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ACEB-D20E-4AFC-ACA4-E7A2E50D2664}" type="datetimeFigureOut">
              <a:rPr lang="pl-PL" smtClean="0"/>
              <a:t>28.03.2025</a:t>
            </a:fld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DE54-299D-42FD-8C3F-001B2EB4AED1}" type="slidenum">
              <a:rPr lang="pl-PL" smtClean="0"/>
              <a:t>‹#›</a:t>
            </a:fld>
            <a:endParaRPr lang="pl-PL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ACEB-D20E-4AFC-ACA4-E7A2E50D2664}" type="datetimeFigureOut">
              <a:rPr lang="pl-PL" smtClean="0"/>
              <a:t>28.03.2025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DE54-299D-42FD-8C3F-001B2EB4AED1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ACEB-D20E-4AFC-ACA4-E7A2E50D2664}" type="datetimeFigureOut">
              <a:rPr lang="pl-PL" smtClean="0"/>
              <a:t>28.03.2025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DE54-299D-42FD-8C3F-001B2EB4AED1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ACEB-D20E-4AFC-ACA4-E7A2E50D2664}" type="datetimeFigureOut">
              <a:rPr lang="pl-PL" smtClean="0"/>
              <a:t>28.03.2025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DE54-299D-42FD-8C3F-001B2EB4AED1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7E58ACEB-D20E-4AFC-ACA4-E7A2E50D2664}" type="datetimeFigureOut">
              <a:rPr lang="pl-PL" smtClean="0"/>
              <a:t>28.03.2025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941EDE54-299D-42FD-8C3F-001B2EB4AED1}" type="slidenum">
              <a:rPr lang="pl-PL" smtClean="0"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youtube.com/watch?v=cacDrpEAoF8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11560" y="4941169"/>
            <a:ext cx="7772400" cy="864096"/>
          </a:xfrm>
        </p:spPr>
        <p:txBody>
          <a:bodyPr/>
          <a:lstStyle/>
          <a:p>
            <a:r>
              <a:rPr lang="pl-PL" dirty="0">
                <a:solidFill>
                  <a:srgbClr val="C00000"/>
                </a:solidFill>
              </a:rPr>
              <a:t>Polichóralność i styl koncertujący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475656" y="548680"/>
            <a:ext cx="6400800" cy="3528392"/>
          </a:xfrm>
        </p:spPr>
        <p:txBody>
          <a:bodyPr/>
          <a:lstStyle/>
          <a:p>
            <a:endParaRPr lang="pl-PL" dirty="0"/>
          </a:p>
          <a:p>
            <a:endParaRPr lang="pl-PL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76250"/>
            <a:ext cx="7416824" cy="4464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2530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5B87642-A9D0-4E17-BC8A-C710BF9CC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2905392"/>
          </a:xfrm>
        </p:spPr>
        <p:txBody>
          <a:bodyPr>
            <a:normAutofit fontScale="90000"/>
          </a:bodyPr>
          <a:lstStyle/>
          <a:p>
            <a:r>
              <a:rPr lang="pl-PL" dirty="0"/>
              <a:t>Anthony F. </a:t>
            </a:r>
            <a:r>
              <a:rPr lang="pl-PL" dirty="0" err="1"/>
              <a:t>Carver</a:t>
            </a:r>
            <a:r>
              <a:rPr lang="pl-PL" dirty="0"/>
              <a:t>, </a:t>
            </a:r>
            <a:r>
              <a:rPr lang="pl-PL" dirty="0" err="1"/>
              <a:t>Cori</a:t>
            </a:r>
            <a:r>
              <a:rPr lang="pl-PL" dirty="0"/>
              <a:t> </a:t>
            </a:r>
            <a:r>
              <a:rPr lang="pl-PL" dirty="0" err="1"/>
              <a:t>spezzati</a:t>
            </a:r>
            <a:r>
              <a:rPr lang="pl-PL" dirty="0"/>
              <a:t>. Development of </a:t>
            </a:r>
            <a:r>
              <a:rPr lang="pl-PL" dirty="0" err="1"/>
              <a:t>sacred</a:t>
            </a:r>
            <a:r>
              <a:rPr lang="pl-PL" dirty="0"/>
              <a:t> </a:t>
            </a:r>
            <a:r>
              <a:rPr lang="pl-PL" dirty="0" err="1"/>
              <a:t>polychoral</a:t>
            </a:r>
            <a:r>
              <a:rPr lang="pl-PL" dirty="0"/>
              <a:t> </a:t>
            </a:r>
            <a:r>
              <a:rPr lang="pl-PL" dirty="0" err="1"/>
              <a:t>music</a:t>
            </a:r>
            <a:r>
              <a:rPr lang="pl-PL" dirty="0"/>
              <a:t> to the </a:t>
            </a:r>
            <a:r>
              <a:rPr lang="pl-PL" dirty="0" err="1"/>
              <a:t>time</a:t>
            </a:r>
            <a:r>
              <a:rPr lang="pl-PL" dirty="0"/>
              <a:t> of </a:t>
            </a:r>
            <a:r>
              <a:rPr lang="pl-PL" dirty="0" err="1"/>
              <a:t>Schuetz</a:t>
            </a:r>
            <a:r>
              <a:rPr lang="pl-PL" dirty="0"/>
              <a:t> (vol. 1); </a:t>
            </a:r>
            <a:r>
              <a:rPr lang="pl-PL" dirty="0" err="1"/>
              <a:t>An</a:t>
            </a:r>
            <a:r>
              <a:rPr lang="pl-PL" dirty="0"/>
              <a:t> </a:t>
            </a:r>
            <a:r>
              <a:rPr lang="pl-PL" dirty="0" err="1"/>
              <a:t>Anthology</a:t>
            </a:r>
            <a:r>
              <a:rPr lang="pl-PL" dirty="0"/>
              <a:t> of </a:t>
            </a:r>
            <a:r>
              <a:rPr lang="pl-PL" dirty="0" err="1"/>
              <a:t>sacred</a:t>
            </a:r>
            <a:r>
              <a:rPr lang="pl-PL" dirty="0"/>
              <a:t> </a:t>
            </a:r>
            <a:r>
              <a:rPr lang="pl-PL" dirty="0" err="1"/>
              <a:t>polychoral</a:t>
            </a:r>
            <a:r>
              <a:rPr lang="pl-PL" dirty="0"/>
              <a:t> </a:t>
            </a:r>
            <a:r>
              <a:rPr lang="pl-PL" dirty="0" err="1"/>
              <a:t>music</a:t>
            </a:r>
            <a:r>
              <a:rPr lang="pl-PL" dirty="0"/>
              <a:t> (vol. 2)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2C52266-C78D-4BBF-A53F-0EA82C1F2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492" y="4437112"/>
            <a:ext cx="6777317" cy="1395517"/>
          </a:xfrm>
        </p:spPr>
        <p:txBody>
          <a:bodyPr/>
          <a:lstStyle/>
          <a:p>
            <a:r>
              <a:rPr lang="pl-PL" dirty="0"/>
              <a:t>https://books.google.co.vi/books?id=2Mk6DQEACAAJ&amp;printsec=copyright#v=onepage&amp;q&amp;f=false</a:t>
            </a:r>
          </a:p>
        </p:txBody>
      </p:sp>
    </p:spTree>
    <p:extLst>
      <p:ext uri="{BB962C8B-B14F-4D97-AF65-F5344CB8AC3E}">
        <p14:creationId xmlns:p14="http://schemas.microsoft.com/office/powerpoint/2010/main" val="3198385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sz="3200" dirty="0"/>
              <a:t>Polichóralność – historyczny termin: </a:t>
            </a:r>
            <a:r>
              <a:rPr lang="pl-PL" sz="3200" i="1" dirty="0" err="1">
                <a:solidFill>
                  <a:srgbClr val="FF0000"/>
                </a:solidFill>
              </a:rPr>
              <a:t>cori</a:t>
            </a:r>
            <a:r>
              <a:rPr lang="pl-PL" sz="3200" i="1" dirty="0">
                <a:solidFill>
                  <a:srgbClr val="FF0000"/>
                </a:solidFill>
              </a:rPr>
              <a:t> </a:t>
            </a:r>
            <a:r>
              <a:rPr lang="pl-PL" sz="3200" i="1" dirty="0" err="1">
                <a:solidFill>
                  <a:srgbClr val="FF0000"/>
                </a:solidFill>
              </a:rPr>
              <a:t>spezzati</a:t>
            </a:r>
            <a:r>
              <a:rPr lang="pl-PL" sz="3200" i="1" dirty="0">
                <a:solidFill>
                  <a:srgbClr val="FF0000"/>
                </a:solidFill>
              </a:rPr>
              <a:t> </a:t>
            </a:r>
            <a:r>
              <a:rPr lang="pl-PL" sz="3200" dirty="0"/>
              <a:t>(chóry podzielone)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043608" y="2924945"/>
            <a:ext cx="6777317" cy="2664296"/>
          </a:xfrm>
        </p:spPr>
        <p:txBody>
          <a:bodyPr/>
          <a:lstStyle/>
          <a:p>
            <a:r>
              <a:rPr lang="pl-PL" dirty="0"/>
              <a:t>Tradycja osobnych chórów wykonujących ten sam utwór sięga muzyki żydowskiej i wczesnochrześcijańskiej - dotyczy monofonicznej psalmodii</a:t>
            </a:r>
          </a:p>
        </p:txBody>
      </p:sp>
    </p:spTree>
    <p:extLst>
      <p:ext uri="{BB962C8B-B14F-4D97-AF65-F5344CB8AC3E}">
        <p14:creationId xmlns:p14="http://schemas.microsoft.com/office/powerpoint/2010/main" val="2670927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043490" y="620688"/>
            <a:ext cx="7024744" cy="1549976"/>
          </a:xfrm>
        </p:spPr>
        <p:txBody>
          <a:bodyPr>
            <a:noAutofit/>
          </a:bodyPr>
          <a:lstStyle/>
          <a:p>
            <a:r>
              <a:rPr lang="pl-PL" sz="3200" dirty="0"/>
              <a:t>Rozwój polichóralności poprzedzają bezpośrednio dwa rodzaje zjawisk: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dirty="0"/>
              <a:t>Psalmy w opracowaniu polifonicznym przeznaczone do wykonania antyfonalnego przez dwa chóry</a:t>
            </a:r>
          </a:p>
          <a:p>
            <a:r>
              <a:rPr lang="pl-PL" dirty="0"/>
              <a:t>Wyodrębnianie w fakturze polifonicznej grup głosów, jakie ma miejsce np. w twórczości </a:t>
            </a:r>
            <a:r>
              <a:rPr lang="pl-PL" dirty="0" err="1"/>
              <a:t>Josquina</a:t>
            </a:r>
            <a:endParaRPr lang="pl-PL" dirty="0"/>
          </a:p>
          <a:p>
            <a:pPr marL="68580" indent="0">
              <a:buNone/>
            </a:pPr>
            <a:r>
              <a:rPr lang="pl-PL" dirty="0"/>
              <a:t>Kompozytorzy wczesnych utworów liturgicznych w technice </a:t>
            </a:r>
            <a:r>
              <a:rPr lang="pl-PL" dirty="0" err="1">
                <a:solidFill>
                  <a:srgbClr val="FF0000"/>
                </a:solidFill>
              </a:rPr>
              <a:t>cori</a:t>
            </a:r>
            <a:r>
              <a:rPr lang="pl-PL" dirty="0">
                <a:solidFill>
                  <a:srgbClr val="FF0000"/>
                </a:solidFill>
              </a:rPr>
              <a:t> </a:t>
            </a:r>
            <a:r>
              <a:rPr lang="pl-PL" dirty="0" err="1">
                <a:solidFill>
                  <a:srgbClr val="FF0000"/>
                </a:solidFill>
              </a:rPr>
              <a:t>spezzati</a:t>
            </a:r>
            <a:r>
              <a:rPr lang="pl-PL" dirty="0"/>
              <a:t>: Francesco Santa Croce, </a:t>
            </a:r>
            <a:r>
              <a:rPr lang="pl-PL" dirty="0" err="1"/>
              <a:t>Ruffino</a:t>
            </a:r>
            <a:r>
              <a:rPr lang="pl-PL" dirty="0"/>
              <a:t> </a:t>
            </a:r>
            <a:r>
              <a:rPr lang="pl-PL" dirty="0" err="1"/>
              <a:t>d’Assisi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4550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71600" y="620688"/>
            <a:ext cx="7024744" cy="2448272"/>
          </a:xfrm>
        </p:spPr>
        <p:txBody>
          <a:bodyPr>
            <a:noAutofit/>
          </a:bodyPr>
          <a:lstStyle/>
          <a:p>
            <a:r>
              <a:rPr lang="pl-PL" sz="2400" dirty="0"/>
              <a:t>Dawny pogląd, jakoby decydującym czynnikiem w genezie polichóralności była architektura bazyliki św. Marka w Wenecji został odrzucony</a:t>
            </a:r>
            <a:br>
              <a:rPr lang="pl-PL" sz="2400" dirty="0"/>
            </a:br>
            <a:r>
              <a:rPr lang="pl-PL" sz="2400" dirty="0">
                <a:hlinkClick r:id="rId2"/>
              </a:rPr>
              <a:t>https://www.youtube.com/watch?v=cacDrpEAoF8</a:t>
            </a:r>
            <a:r>
              <a:rPr lang="pl-PL" sz="2400" dirty="0"/>
              <a:t> bazylika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043492" y="2503320"/>
            <a:ext cx="6777317" cy="3517968"/>
          </a:xfrm>
        </p:spPr>
        <p:txBody>
          <a:bodyPr/>
          <a:lstStyle/>
          <a:p>
            <a:endParaRPr lang="pl-PL" dirty="0"/>
          </a:p>
          <a:p>
            <a:endParaRPr lang="pl-PL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3068960"/>
            <a:ext cx="5113114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0179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043608" y="620688"/>
            <a:ext cx="7024744" cy="2689368"/>
          </a:xfrm>
        </p:spPr>
        <p:txBody>
          <a:bodyPr>
            <a:normAutofit/>
          </a:bodyPr>
          <a:lstStyle/>
          <a:p>
            <a:r>
              <a:rPr lang="pl-PL" sz="3200" dirty="0"/>
              <a:t>1550 – ukazuje się drukiem zbiór psalmów Adriana </a:t>
            </a:r>
            <a:r>
              <a:rPr lang="pl-PL" sz="3200" dirty="0" err="1"/>
              <a:t>Willaerta</a:t>
            </a:r>
            <a:r>
              <a:rPr lang="pl-PL" sz="3200" dirty="0"/>
              <a:t> (ok. 1480-1562) i </a:t>
            </a:r>
            <a:r>
              <a:rPr lang="pl-PL" sz="3200" dirty="0" err="1"/>
              <a:t>Jacketa</a:t>
            </a:r>
            <a:r>
              <a:rPr lang="pl-PL" sz="3200" dirty="0"/>
              <a:t> di Mantua. W nim po raz pierwszy pojawia się termin </a:t>
            </a:r>
            <a:r>
              <a:rPr lang="pl-PL" sz="3200" i="1" dirty="0" err="1">
                <a:solidFill>
                  <a:srgbClr val="FF0000"/>
                </a:solidFill>
              </a:rPr>
              <a:t>cori</a:t>
            </a:r>
            <a:r>
              <a:rPr lang="pl-PL" sz="3200" i="1" dirty="0">
                <a:solidFill>
                  <a:srgbClr val="FF0000"/>
                </a:solidFill>
              </a:rPr>
              <a:t> </a:t>
            </a:r>
            <a:r>
              <a:rPr lang="pl-PL" sz="3200" i="1" dirty="0" err="1">
                <a:solidFill>
                  <a:srgbClr val="FF0000"/>
                </a:solidFill>
              </a:rPr>
              <a:t>spezzati</a:t>
            </a:r>
            <a:endParaRPr lang="pl-PL" sz="3200" i="1" dirty="0">
              <a:solidFill>
                <a:srgbClr val="FF0000"/>
              </a:solidFill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043492" y="3861048"/>
            <a:ext cx="6777317" cy="1971581"/>
          </a:xfrm>
        </p:spPr>
        <p:txBody>
          <a:bodyPr>
            <a:normAutofit fontScale="92500" lnSpcReduction="10000"/>
          </a:bodyPr>
          <a:lstStyle/>
          <a:p>
            <a:r>
              <a:rPr lang="pl-PL" dirty="0"/>
              <a:t>Zawarte w zbiorze utwory nie wnosiły niczego nowego do ówczesnej praktyki, ale przyczyniły się do popularyzacji techniki </a:t>
            </a:r>
            <a:r>
              <a:rPr lang="pl-PL" dirty="0" err="1"/>
              <a:t>c.s</a:t>
            </a:r>
            <a:r>
              <a:rPr lang="pl-PL" dirty="0"/>
              <a:t>. Spełniały także postulaty Soboru Trydenckiego dot. zrozumiałości tekstu, poprzez  dominację faktury </a:t>
            </a:r>
            <a:r>
              <a:rPr lang="pl-PL" dirty="0" err="1"/>
              <a:t>n.c.n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8171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Orlando di Lasso (1532-1594)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Stosował technikę </a:t>
            </a:r>
            <a:r>
              <a:rPr lang="pl-PL" dirty="0" err="1">
                <a:solidFill>
                  <a:srgbClr val="FF0000"/>
                </a:solidFill>
              </a:rPr>
              <a:t>cori</a:t>
            </a:r>
            <a:r>
              <a:rPr lang="pl-PL" dirty="0">
                <a:solidFill>
                  <a:srgbClr val="FF0000"/>
                </a:solidFill>
              </a:rPr>
              <a:t> </a:t>
            </a:r>
            <a:r>
              <a:rPr lang="pl-PL" dirty="0" err="1">
                <a:solidFill>
                  <a:srgbClr val="FF0000"/>
                </a:solidFill>
              </a:rPr>
              <a:t>spezzati</a:t>
            </a:r>
            <a:r>
              <a:rPr lang="pl-PL" dirty="0">
                <a:solidFill>
                  <a:srgbClr val="FF0000"/>
                </a:solidFill>
              </a:rPr>
              <a:t> </a:t>
            </a:r>
            <a:r>
              <a:rPr lang="pl-PL" dirty="0"/>
              <a:t>od ok. 1564 roku, jednak – inaczej niż Włosi – komponował w tej technice nie psalmy, ale motety ceremonialne (także świeckie), </a:t>
            </a:r>
            <a:r>
              <a:rPr lang="pl-PL" i="1" dirty="0" err="1"/>
              <a:t>magnificat</a:t>
            </a:r>
            <a:r>
              <a:rPr lang="pl-PL" dirty="0"/>
              <a:t>, msze i antyfony. W odróżnieniu od </a:t>
            </a:r>
            <a:r>
              <a:rPr lang="pl-PL" dirty="0" err="1"/>
              <a:t>Willaerta</a:t>
            </a:r>
            <a:r>
              <a:rPr lang="pl-PL" dirty="0"/>
              <a:t> zachowywał kontrapunktyczną niezależność głosów i stosował częste tutti.</a:t>
            </a:r>
          </a:p>
        </p:txBody>
      </p:sp>
    </p:spTree>
    <p:extLst>
      <p:ext uri="{BB962C8B-B14F-4D97-AF65-F5344CB8AC3E}">
        <p14:creationId xmlns:p14="http://schemas.microsoft.com/office/powerpoint/2010/main" val="1824486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Andrea Gabrieli (1510-1586)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Uważany przez </a:t>
            </a:r>
            <a:r>
              <a:rPr lang="pl-PL" dirty="0" err="1"/>
              <a:t>Antony’ego</a:t>
            </a:r>
            <a:r>
              <a:rPr lang="pl-PL" dirty="0"/>
              <a:t> </a:t>
            </a:r>
            <a:r>
              <a:rPr lang="pl-PL" dirty="0" err="1"/>
              <a:t>Carvera</a:t>
            </a:r>
            <a:r>
              <a:rPr lang="pl-PL" dirty="0"/>
              <a:t>, autora monografii  „</a:t>
            </a:r>
            <a:r>
              <a:rPr lang="pl-PL" dirty="0" err="1"/>
              <a:t>Cori</a:t>
            </a:r>
            <a:r>
              <a:rPr lang="pl-PL" dirty="0"/>
              <a:t> </a:t>
            </a:r>
            <a:r>
              <a:rPr lang="pl-PL" dirty="0" err="1"/>
              <a:t>spezzati</a:t>
            </a:r>
            <a:r>
              <a:rPr lang="pl-PL" dirty="0"/>
              <a:t>”, za właściwego twórcę stylu weneckiego polichóralności,</a:t>
            </a:r>
          </a:p>
          <a:p>
            <a:r>
              <a:rPr lang="pl-PL" dirty="0"/>
              <a:t>Włącza do stylu opartego na idiomie niderlandzkim nowe elementy wykształcone we Włoszech</a:t>
            </a:r>
          </a:p>
        </p:txBody>
      </p:sp>
    </p:spTree>
    <p:extLst>
      <p:ext uri="{BB962C8B-B14F-4D97-AF65-F5344CB8AC3E}">
        <p14:creationId xmlns:p14="http://schemas.microsoft.com/office/powerpoint/2010/main" val="2644737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043490" y="404664"/>
            <a:ext cx="7024744" cy="1080120"/>
          </a:xfrm>
        </p:spPr>
        <p:txBody>
          <a:bodyPr>
            <a:normAutofit/>
          </a:bodyPr>
          <a:lstStyle/>
          <a:p>
            <a:r>
              <a:rPr lang="pl-PL" sz="3200" i="1" dirty="0" err="1"/>
              <a:t>Concerti</a:t>
            </a:r>
            <a:r>
              <a:rPr lang="pl-PL" sz="3200" i="1" dirty="0"/>
              <a:t> di </a:t>
            </a:r>
            <a:r>
              <a:rPr lang="pl-PL" sz="3200" i="1" dirty="0" err="1"/>
              <a:t>Andree</a:t>
            </a:r>
            <a:r>
              <a:rPr lang="pl-PL" sz="3200" i="1" dirty="0"/>
              <a:t> et di Giovanni Gabrieli</a:t>
            </a:r>
            <a:r>
              <a:rPr lang="pl-PL" sz="3200" dirty="0"/>
              <a:t>, Wenecja 1587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 lnSpcReduction="10000"/>
          </a:bodyPr>
          <a:lstStyle/>
          <a:p>
            <a:r>
              <a:rPr lang="pl-PL" sz="2000" dirty="0"/>
              <a:t>Kompozycje z tego zbioru to głównie motety ceremonialne</a:t>
            </a:r>
          </a:p>
          <a:p>
            <a:r>
              <a:rPr lang="pl-PL" sz="2000" dirty="0"/>
              <a:t>Wprowadza chóry o różnej, często kontrastującej tessiturze (</a:t>
            </a:r>
            <a:r>
              <a:rPr lang="pl-PL" sz="2000" dirty="0" err="1"/>
              <a:t>coro</a:t>
            </a:r>
            <a:r>
              <a:rPr lang="pl-PL" sz="2000" dirty="0"/>
              <a:t> </a:t>
            </a:r>
            <a:r>
              <a:rPr lang="pl-PL" sz="2000" dirty="0" err="1"/>
              <a:t>acuto</a:t>
            </a:r>
            <a:r>
              <a:rPr lang="pl-PL" sz="2000" dirty="0"/>
              <a:t> - </a:t>
            </a:r>
            <a:r>
              <a:rPr lang="pl-PL" sz="2000" dirty="0" err="1"/>
              <a:t>coro</a:t>
            </a:r>
            <a:r>
              <a:rPr lang="pl-PL" sz="2000" dirty="0"/>
              <a:t> grave)</a:t>
            </a:r>
          </a:p>
          <a:p>
            <a:r>
              <a:rPr lang="pl-PL" sz="2000" dirty="0"/>
              <a:t>Rozszerza dotychczasowy ambitus kompozycji</a:t>
            </a:r>
          </a:p>
          <a:p>
            <a:r>
              <a:rPr lang="pl-PL" sz="2000" dirty="0"/>
              <a:t>Łączy w chórach głosy wokalne z instrumentalnymi</a:t>
            </a:r>
          </a:p>
          <a:p>
            <a:r>
              <a:rPr lang="pl-PL" sz="2000" dirty="0"/>
              <a:t>Niekiedy multiplikuje chóry do czterech</a:t>
            </a:r>
          </a:p>
          <a:p>
            <a:r>
              <a:rPr lang="pl-PL" sz="2000" dirty="0"/>
              <a:t>Stosuje szybką emfatyczną deklamację tekstu „a </a:t>
            </a:r>
            <a:r>
              <a:rPr lang="pl-PL" sz="2000" dirty="0" err="1"/>
              <a:t>note</a:t>
            </a:r>
            <a:r>
              <a:rPr lang="pl-PL" sz="2000" dirty="0"/>
              <a:t> </a:t>
            </a:r>
            <a:r>
              <a:rPr lang="pl-PL" sz="2000" dirty="0" err="1"/>
              <a:t>nere</a:t>
            </a:r>
            <a:r>
              <a:rPr lang="pl-PL" sz="2000" dirty="0"/>
              <a:t>”</a:t>
            </a:r>
          </a:p>
          <a:p>
            <a:r>
              <a:rPr lang="pl-PL" sz="2000" dirty="0"/>
              <a:t>Wprowadza dalsze odniesienia harmoniczne</a:t>
            </a:r>
          </a:p>
          <a:p>
            <a:r>
              <a:rPr lang="pl-PL" sz="2000" dirty="0"/>
              <a:t>Łączy chóry z pojedynczymi glosami innych chórów</a:t>
            </a:r>
          </a:p>
          <a:p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1481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043608" y="548680"/>
            <a:ext cx="7024744" cy="1143000"/>
          </a:xfrm>
        </p:spPr>
        <p:txBody>
          <a:bodyPr>
            <a:normAutofit/>
          </a:bodyPr>
          <a:lstStyle/>
          <a:p>
            <a:r>
              <a:rPr lang="pl-PL" sz="3200" dirty="0"/>
              <a:t>Koniec XVI i początek XVII wieku to szczyt rozwoju polichóralności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043492" y="1844824"/>
            <a:ext cx="6777317" cy="3987805"/>
          </a:xfrm>
        </p:spPr>
        <p:txBody>
          <a:bodyPr>
            <a:normAutofit lnSpcReduction="10000"/>
          </a:bodyPr>
          <a:lstStyle/>
          <a:p>
            <a:r>
              <a:rPr lang="pl-PL" dirty="0"/>
              <a:t>Staje się ona jednym z charakterystycznych stylów wczesnego baroku</a:t>
            </a:r>
          </a:p>
          <a:p>
            <a:r>
              <a:rPr lang="pl-PL" dirty="0"/>
              <a:t>Zawiera w sobie ideały baroku: ruch, zmienność, wspaniałość brzmienia, różnorodność efektów; ukazuje potęgę </a:t>
            </a:r>
            <a:r>
              <a:rPr lang="pl-PL" i="1" dirty="0" err="1"/>
              <a:t>ecclesiae</a:t>
            </a:r>
            <a:r>
              <a:rPr lang="pl-PL" i="1" dirty="0"/>
              <a:t> </a:t>
            </a:r>
            <a:r>
              <a:rPr lang="pl-PL" i="1" dirty="0" err="1"/>
              <a:t>militantis</a:t>
            </a:r>
            <a:endParaRPr lang="pl-PL" dirty="0"/>
          </a:p>
          <a:p>
            <a:r>
              <a:rPr lang="pl-PL" dirty="0"/>
              <a:t>Oprócz Wenecji uprawiana także w Rzymie, Bolonii, Lombardii</a:t>
            </a:r>
          </a:p>
          <a:p>
            <a:r>
              <a:rPr lang="pl-PL" dirty="0"/>
              <a:t>Staje się popularny także w krajach niemieckojęzycznych oraz w Polsce</a:t>
            </a:r>
          </a:p>
          <a:p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715525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043608" y="692696"/>
            <a:ext cx="7024744" cy="541864"/>
          </a:xfrm>
        </p:spPr>
        <p:txBody>
          <a:bodyPr>
            <a:normAutofit fontScale="90000"/>
          </a:bodyPr>
          <a:lstStyle/>
          <a:p>
            <a:r>
              <a:rPr lang="pl-PL" dirty="0"/>
              <a:t>Giovanni Gabrieli (1557-1613)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043492" y="1412776"/>
            <a:ext cx="6777317" cy="4419853"/>
          </a:xfrm>
        </p:spPr>
        <p:txBody>
          <a:bodyPr/>
          <a:lstStyle/>
          <a:p>
            <a:pPr marL="68580" indent="0">
              <a:buNone/>
            </a:pPr>
            <a:r>
              <a:rPr lang="pl-PL" dirty="0"/>
              <a:t>Zbiory kompozycji;</a:t>
            </a:r>
          </a:p>
          <a:p>
            <a:pPr>
              <a:buFontTx/>
              <a:buChar char="-"/>
            </a:pPr>
            <a:r>
              <a:rPr lang="pl-PL" i="1" dirty="0" err="1"/>
              <a:t>Concerti</a:t>
            </a:r>
            <a:r>
              <a:rPr lang="pl-PL" i="1" dirty="0"/>
              <a:t> di Andrea et di Giovanni Gabrieli </a:t>
            </a:r>
            <a:r>
              <a:rPr lang="pl-PL" dirty="0"/>
              <a:t>(Wenecja 1587)</a:t>
            </a:r>
          </a:p>
          <a:p>
            <a:pPr>
              <a:buFontTx/>
              <a:buChar char="-"/>
            </a:pPr>
            <a:r>
              <a:rPr lang="pl-PL" i="1" dirty="0" err="1"/>
              <a:t>Sacrae</a:t>
            </a:r>
            <a:r>
              <a:rPr lang="pl-PL" i="1" dirty="0"/>
              <a:t> </a:t>
            </a:r>
            <a:r>
              <a:rPr lang="pl-PL" i="1" dirty="0" err="1"/>
              <a:t>Symphoniae</a:t>
            </a:r>
            <a:r>
              <a:rPr lang="pl-PL" i="1" dirty="0"/>
              <a:t>…tam </a:t>
            </a:r>
            <a:r>
              <a:rPr lang="pl-PL" i="1" dirty="0" err="1"/>
              <a:t>vocibus</a:t>
            </a:r>
            <a:r>
              <a:rPr lang="pl-PL" i="1" dirty="0"/>
              <a:t>, </a:t>
            </a:r>
            <a:r>
              <a:rPr lang="pl-PL" i="1" dirty="0" err="1"/>
              <a:t>quam</a:t>
            </a:r>
            <a:r>
              <a:rPr lang="pl-PL" i="1" dirty="0"/>
              <a:t> </a:t>
            </a:r>
            <a:r>
              <a:rPr lang="pl-PL" i="1" dirty="0" err="1"/>
              <a:t>instrumentis</a:t>
            </a:r>
            <a:r>
              <a:rPr lang="pl-PL" i="1" dirty="0"/>
              <a:t> </a:t>
            </a:r>
            <a:r>
              <a:rPr lang="pl-PL" dirty="0"/>
              <a:t>(Wenecja 1597)</a:t>
            </a:r>
          </a:p>
          <a:p>
            <a:pPr>
              <a:buFontTx/>
              <a:buChar char="-"/>
            </a:pPr>
            <a:r>
              <a:rPr lang="pl-PL" i="1" dirty="0" err="1"/>
              <a:t>Symphoniae</a:t>
            </a:r>
            <a:r>
              <a:rPr lang="pl-PL" i="1" dirty="0"/>
              <a:t> </a:t>
            </a:r>
            <a:r>
              <a:rPr lang="pl-PL" i="1" dirty="0" err="1"/>
              <a:t>Sacrae</a:t>
            </a:r>
            <a:r>
              <a:rPr lang="pl-PL" i="1" dirty="0"/>
              <a:t> </a:t>
            </a:r>
            <a:r>
              <a:rPr lang="pl-PL" dirty="0"/>
              <a:t>(Wenecja 1615, ed. pośmiertna)</a:t>
            </a:r>
          </a:p>
        </p:txBody>
      </p:sp>
    </p:spTree>
    <p:extLst>
      <p:ext uri="{BB962C8B-B14F-4D97-AF65-F5344CB8AC3E}">
        <p14:creationId xmlns:p14="http://schemas.microsoft.com/office/powerpoint/2010/main" val="2449215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71600" y="620688"/>
            <a:ext cx="7024744" cy="864096"/>
          </a:xfrm>
        </p:spPr>
        <p:txBody>
          <a:bodyPr>
            <a:normAutofit fontScale="90000"/>
          </a:bodyPr>
          <a:lstStyle/>
          <a:p>
            <a:r>
              <a:rPr lang="pl-PL" sz="2800" dirty="0"/>
              <a:t>Pięć cech twórczości G.G. wg. Szweykowskiego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043492" y="1556792"/>
            <a:ext cx="6777317" cy="4896544"/>
          </a:xfrm>
        </p:spPr>
        <p:txBody>
          <a:bodyPr>
            <a:normAutofit lnSpcReduction="10000"/>
          </a:bodyPr>
          <a:lstStyle/>
          <a:p>
            <a:pPr marL="525780" indent="-457200">
              <a:buAutoNum type="arabicPeriod"/>
            </a:pPr>
            <a:r>
              <a:rPr lang="pl-PL" sz="1800" dirty="0"/>
              <a:t>Różnicowanie chórów pod względem rejestru i barwy (obsady). Rozszerzanie ambitus utworów o dźwięki niedostępne głosom ludzkim</a:t>
            </a:r>
          </a:p>
          <a:p>
            <a:pPr marL="525780" indent="-457200">
              <a:buAutoNum type="arabicPeriod"/>
            </a:pPr>
            <a:r>
              <a:rPr lang="pl-PL" sz="1800" dirty="0"/>
              <a:t>Coraz szersze zastosowanie i usamodzielnianie głosów instrumentalnych. Wykształca się faktura instrumentalna, różna od wokalnej. Wprowadza czysto instrumentalne ustępy (</a:t>
            </a:r>
            <a:r>
              <a:rPr lang="pl-PL" sz="1800" dirty="0" err="1"/>
              <a:t>sinfonie</a:t>
            </a:r>
            <a:r>
              <a:rPr lang="pl-PL" sz="1800" dirty="0"/>
              <a:t>).</a:t>
            </a:r>
          </a:p>
          <a:p>
            <a:pPr marL="525780" indent="-457200">
              <a:buAutoNum type="arabicPeriod"/>
            </a:pPr>
            <a:r>
              <a:rPr lang="pl-PL" sz="1800" dirty="0"/>
              <a:t>Wprowadzanie obok chórów pojedynczych głosów solowych, a także podział na chóry cappella oraz chóry solistów.</a:t>
            </a:r>
          </a:p>
          <a:p>
            <a:pPr marL="525780" indent="-457200">
              <a:buAutoNum type="arabicPeriod"/>
            </a:pPr>
            <a:r>
              <a:rPr lang="pl-PL" sz="1800" dirty="0"/>
              <a:t>Rezygnacja z powtarzania materiału pierwszego chóru przez kolejny, na rzecz wariantów, </a:t>
            </a:r>
            <a:r>
              <a:rPr lang="pl-PL" sz="1800" dirty="0" err="1"/>
              <a:t>nawiązań</a:t>
            </a:r>
            <a:r>
              <a:rPr lang="pl-PL" sz="1800" dirty="0"/>
              <a:t>, lub nawet niezależnego materiału. Wprowadza szybkie dialogowanie chórów</a:t>
            </a:r>
          </a:p>
          <a:p>
            <a:pPr marL="525780" indent="-457200">
              <a:buAutoNum type="arabicPeriod"/>
            </a:pPr>
            <a:r>
              <a:rPr lang="pl-PL" sz="1800" dirty="0"/>
              <a:t>Architektonika: sukcesywne kontrastowanie faktur: polifonicznej i </a:t>
            </a:r>
            <a:r>
              <a:rPr lang="pl-PL" sz="1800" dirty="0" err="1"/>
              <a:t>homorytmicznej</a:t>
            </a:r>
            <a:r>
              <a:rPr lang="pl-PL" sz="1800" dirty="0"/>
              <a:t> oraz przewaga tej drugiej. </a:t>
            </a:r>
            <a:r>
              <a:rPr lang="pl-PL" sz="1800" dirty="0" err="1"/>
              <a:t>Wprawadzenie</a:t>
            </a:r>
            <a:r>
              <a:rPr lang="pl-PL" sz="1800" dirty="0"/>
              <a:t> </a:t>
            </a:r>
            <a:r>
              <a:rPr lang="pl-PL" sz="1800" dirty="0" err="1"/>
              <a:t>homorytmicznego</a:t>
            </a:r>
            <a:r>
              <a:rPr lang="pl-PL" sz="1800" dirty="0"/>
              <a:t> </a:t>
            </a:r>
            <a:r>
              <a:rPr lang="pl-PL" sz="1800" dirty="0" err="1"/>
              <a:t>ritornela</a:t>
            </a:r>
            <a:r>
              <a:rPr lang="pl-PL" sz="1800" dirty="0"/>
              <a:t> (wenecki koncert rondowy)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24731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71600" y="548680"/>
            <a:ext cx="7024744" cy="2880320"/>
          </a:xfrm>
        </p:spPr>
        <p:txBody>
          <a:bodyPr>
            <a:normAutofit fontScale="90000"/>
          </a:bodyPr>
          <a:lstStyle/>
          <a:p>
            <a:r>
              <a:rPr lang="pl-PL" dirty="0"/>
              <a:t>W twórczości Giovanniego zachodzą przemiany, które prowadzą od weneckiego stylu polichóralnego do stylu koncertującego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043492" y="4149080"/>
            <a:ext cx="6777317" cy="1683549"/>
          </a:xfrm>
        </p:spPr>
        <p:txBody>
          <a:bodyPr/>
          <a:lstStyle/>
          <a:p>
            <a:r>
              <a:rPr lang="pl-PL" dirty="0"/>
              <a:t>Styl koncertujący przejawia się w utworach z ostatniego okresu twórczości kompozytora, takich, jak </a:t>
            </a:r>
            <a:r>
              <a:rPr lang="pl-PL" i="1" dirty="0"/>
              <a:t>In </a:t>
            </a:r>
            <a:r>
              <a:rPr lang="pl-PL" i="1" dirty="0" err="1"/>
              <a:t>ecclesiis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3349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Istotą stylu koncertującego jest kontrast, ruch i zmienność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043608" y="2564904"/>
            <a:ext cx="6777317" cy="3508977"/>
          </a:xfrm>
        </p:spPr>
        <p:txBody>
          <a:bodyPr/>
          <a:lstStyle/>
          <a:p>
            <a:r>
              <a:rPr lang="pl-PL" dirty="0"/>
              <a:t>Ów kontrast dotyczy wszystkich elementów dzieła muzycznego, może zachodzić symultanicznie lub sukcesywnie na gruncie obsady (brzmienia), rejestru, faktury, rytmiki, metryki, melodyki. Obserwuje się go zarówno na płaszczyźnie </a:t>
            </a:r>
            <a:r>
              <a:rPr lang="pl-PL" dirty="0" err="1"/>
              <a:t>mikroformalnej</a:t>
            </a:r>
            <a:r>
              <a:rPr lang="pl-PL" dirty="0"/>
              <a:t>, jak i </a:t>
            </a:r>
            <a:r>
              <a:rPr lang="pl-PL" dirty="0" err="1"/>
              <a:t>makroformalnej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74787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4CB015-D43B-41C7-B264-ABCA22F77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Giovanni Gabrieli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D9DDF01-49F7-45A0-BF8E-F2BDB280A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O </a:t>
            </a:r>
            <a:r>
              <a:rPr lang="pl-PL" dirty="0" err="1"/>
              <a:t>Jesu</a:t>
            </a:r>
            <a:r>
              <a:rPr lang="pl-PL" dirty="0"/>
              <a:t> mi </a:t>
            </a:r>
            <a:r>
              <a:rPr lang="pl-PL" dirty="0" err="1"/>
              <a:t>dilecte</a:t>
            </a:r>
            <a:r>
              <a:rPr lang="pl-PL" dirty="0"/>
              <a:t>, </a:t>
            </a:r>
            <a:r>
              <a:rPr lang="pl-PL" dirty="0" err="1"/>
              <a:t>Ss</a:t>
            </a:r>
            <a:r>
              <a:rPr lang="pl-PL" dirty="0"/>
              <a:t> 1697</a:t>
            </a:r>
          </a:p>
          <a:p>
            <a:pPr marL="68580" indent="0">
              <a:buNone/>
            </a:pPr>
            <a:r>
              <a:rPr lang="pl-PL" dirty="0"/>
              <a:t>https://www.youtube.com/watch?v=PWYjaE9PCCs</a:t>
            </a:r>
          </a:p>
          <a:p>
            <a:r>
              <a:rPr lang="pl-PL" dirty="0" err="1"/>
              <a:t>Jubilate</a:t>
            </a:r>
            <a:r>
              <a:rPr lang="pl-PL" dirty="0"/>
              <a:t> </a:t>
            </a:r>
            <a:r>
              <a:rPr lang="pl-PL" dirty="0" err="1"/>
              <a:t>deo</a:t>
            </a:r>
            <a:r>
              <a:rPr lang="pl-PL" dirty="0"/>
              <a:t> a 15, </a:t>
            </a:r>
            <a:r>
              <a:rPr lang="pl-PL" dirty="0" err="1"/>
              <a:t>Ss</a:t>
            </a:r>
            <a:r>
              <a:rPr lang="pl-PL" dirty="0"/>
              <a:t> 1615 https://www.youtube.com/watch?v=PWYjaE9PCCs</a:t>
            </a:r>
          </a:p>
        </p:txBody>
      </p:sp>
    </p:spTree>
    <p:extLst>
      <p:ext uri="{BB962C8B-B14F-4D97-AF65-F5344CB8AC3E}">
        <p14:creationId xmlns:p14="http://schemas.microsoft.com/office/powerpoint/2010/main" val="19409992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1EA736F3E4807409FC2AD1DF131DC97" ma:contentTypeVersion="4" ma:contentTypeDescription="Utwórz nowy dokument." ma:contentTypeScope="" ma:versionID="62f6f3bbf6e7b2b06dc3a172d813ca74">
  <xsd:schema xmlns:xsd="http://www.w3.org/2001/XMLSchema" xmlns:xs="http://www.w3.org/2001/XMLSchema" xmlns:p="http://schemas.microsoft.com/office/2006/metadata/properties" xmlns:ns2="d69dc642-48f7-4e58-8e1f-5ae592413238" targetNamespace="http://schemas.microsoft.com/office/2006/metadata/properties" ma:root="true" ma:fieldsID="ca5d59b4953e6095b4ea946cb20e85bd" ns2:_="">
    <xsd:import namespace="d69dc642-48f7-4e58-8e1f-5ae5924132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9dc642-48f7-4e58-8e1f-5ae5924132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C408EE8-2420-4BF1-A23A-2A66B223F1DD}"/>
</file>

<file path=customXml/itemProps2.xml><?xml version="1.0" encoding="utf-8"?>
<ds:datastoreItem xmlns:ds="http://schemas.openxmlformats.org/officeDocument/2006/customXml" ds:itemID="{128C2CDC-4B06-4FB6-9D47-B056B6A9413C}"/>
</file>

<file path=customXml/itemProps3.xml><?xml version="1.0" encoding="utf-8"?>
<ds:datastoreItem xmlns:ds="http://schemas.openxmlformats.org/officeDocument/2006/customXml" ds:itemID="{762BEC92-7A6C-4D97-909D-1C4078A97CC7}"/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293</TotalTime>
  <Words>747</Words>
  <Application>Microsoft Office PowerPoint</Application>
  <PresentationFormat>Pokaz na ekranie (4:3)</PresentationFormat>
  <Paragraphs>50</Paragraphs>
  <Slides>15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18" baseType="lpstr">
      <vt:lpstr>Century Gothic</vt:lpstr>
      <vt:lpstr>Wingdings 2</vt:lpstr>
      <vt:lpstr>Austin</vt:lpstr>
      <vt:lpstr>Polichóralność i styl koncertujący</vt:lpstr>
      <vt:lpstr>Anthony F. Carver, Cori spezzati. Development of sacred polychoral music to the time of Schuetz (vol. 1); An Anthology of sacred polychoral music (vol. 2)</vt:lpstr>
      <vt:lpstr>Polichóralność – historyczny termin: cori spezzati (chóry podzielone)</vt:lpstr>
      <vt:lpstr>Rozwój polichóralności poprzedzają bezpośrednio dwa rodzaje zjawisk:</vt:lpstr>
      <vt:lpstr>Dawny pogląd, jakoby decydującym czynnikiem w genezie polichóralności była architektura bazyliki św. Marka w Wenecji został odrzucony https://www.youtube.com/watch?v=cacDrpEAoF8 bazylika</vt:lpstr>
      <vt:lpstr>1550 – ukazuje się drukiem zbiór psalmów Adriana Willaerta (ok. 1480-1562) i Jacketa di Mantua. W nim po raz pierwszy pojawia się termin cori spezzati</vt:lpstr>
      <vt:lpstr>Orlando di Lasso (1532-1594)</vt:lpstr>
      <vt:lpstr>Andrea Gabrieli (1510-1586)</vt:lpstr>
      <vt:lpstr>Concerti di Andree et di Giovanni Gabrieli, Wenecja 1587</vt:lpstr>
      <vt:lpstr>Koniec XVI i początek XVII wieku to szczyt rozwoju polichóralności</vt:lpstr>
      <vt:lpstr>Giovanni Gabrieli (1557-1613)</vt:lpstr>
      <vt:lpstr>Pięć cech twórczości G.G. wg. Szweykowskiego</vt:lpstr>
      <vt:lpstr>W twórczości Giovanniego zachodzą przemiany, które prowadzą od weneckiego stylu polichóralnego do stylu koncertującego</vt:lpstr>
      <vt:lpstr>Istotą stylu koncertującego jest kontrast, ruch i zmienność</vt:lpstr>
      <vt:lpstr>Giovanni Gabrieli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Polichóralność i styl koncertujący</dc:title>
  <dc:creator>Magda i Tomek</dc:creator>
  <cp:lastModifiedBy>Magdalena Walter-Mazur</cp:lastModifiedBy>
  <cp:revision>19</cp:revision>
  <dcterms:created xsi:type="dcterms:W3CDTF">2013-04-09T09:27:49Z</dcterms:created>
  <dcterms:modified xsi:type="dcterms:W3CDTF">2025-03-28T14:08:12Z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0x010100F1EA736F3E4807409FC2AD1DF131DC97</vt:lpwstr>
  </property>
</Properties>
</file>