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v+a6lkKsFzye40VaaF85PrO18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8.xml"/><Relationship Id="rId7" Type="http://schemas.openxmlformats.org/officeDocument/2006/relationships/slide" Target="slides/slide3.xml"/><Relationship Id="rId17" Type="http://schemas.openxmlformats.org/officeDocument/2006/relationships/customXml" Target="../customXml/item3.xml"/><Relationship Id="rId2" Type="http://schemas.openxmlformats.org/officeDocument/2006/relationships/presProps" Target="presProps.xml"/><Relationship Id="rId16" Type="http://schemas.openxmlformats.org/officeDocument/2006/relationships/customXml" Target="../customXml/item2.xml"/><Relationship Id="rId11" Type="http://schemas.openxmlformats.org/officeDocument/2006/relationships/slide" Target="slides/slide7.xml"/><Relationship Id="rId1" Type="http://schemas.openxmlformats.org/officeDocument/2006/relationships/theme" Target="theme/theme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5" Type="http://schemas.openxmlformats.org/officeDocument/2006/relationships/customXml" Target="../customXml/item1.xml"/><Relationship Id="rId10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6ec9169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6ec9169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6ec91690a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6ec9169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6ec91690a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6ec91690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oogle.com/search?q=Monteverdi+possente+spirto&amp;oq=Monteverdi+possente+spirto&amp;gs_lcrp=EgZjaHJvbWUyBggAEEUYOTIKCAEQABgTGBYYHjIKCAIQABgTGBYYHjIKCAMQABgTGBYYHjIMCAQQABgKGBMYFhgeMgoIBRAAGBMYFhgeMgcIBhAAGO8F0gEKMTQ0MDlqMGoxNagCCLACAfEFqjAa4RKV9TE&amp;sourceid=chrome&amp;ie=UTF-8#fpstate=ive&amp;vld=cid:25f0c1e6,vid:VYqF3TTaZcc,st: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watch?v=0eBwPRocwX8" TargetMode="External"/><Relationship Id="rId4" Type="http://schemas.openxmlformats.org/officeDocument/2006/relationships/hyperlink" Target="https://www.youtube.com/watch?v=hTfsQhRlYP0" TargetMode="External"/><Relationship Id="rId5" Type="http://schemas.openxmlformats.org/officeDocument/2006/relationships/hyperlink" Target="https://www.youtube.com/watch?v=vn5JFeM5TNc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arbarastrozzi.com/" TargetMode="External"/><Relationship Id="rId4" Type="http://schemas.openxmlformats.org/officeDocument/2006/relationships/hyperlink" Target="https://www.youtube.com/watch?v=cL17k49ORCI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l-PL"/>
              <a:t>Włoska kantata świecka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l-PL"/>
              <a:t>nowy styl - bel canto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6ec91690a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styl “bel canto” (Bukofzer) - lata 40-te XVII w.</a:t>
            </a:r>
            <a:endParaRPr/>
          </a:p>
        </p:txBody>
      </p:sp>
      <p:sp>
        <p:nvSpPr>
          <p:cNvPr id="91" name="Google Shape;91;g346ec91690a_0_0"/>
          <p:cNvSpPr txBox="1"/>
          <p:nvPr>
            <p:ph idx="1" type="body"/>
          </p:nvPr>
        </p:nvSpPr>
        <p:spPr>
          <a:xfrm>
            <a:off x="838200" y="1791775"/>
            <a:ext cx="10515600" cy="484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prostota melodyki, mniej ozdobników, płynna melika;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wszechstronne wykorzystywanie metrum trójdzielnego, łagodzenie kontrastowej rytmiki wcześniejszego stylu, stosowanie rytmów tanecznych;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integracja basu i melodii wokalnej, kontrapunktyczna równowaga skrajnych głosów;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tonalnie nieustabilizowane </a:t>
            </a:r>
            <a:r>
              <a:rPr lang="pl-PL"/>
              <a:t>następstwa</a:t>
            </a:r>
            <a:r>
              <a:rPr lang="pl-PL"/>
              <a:t> harmoniczne wczesnego baroku ustępują przebiegom akordów blisko spokrewnionych, opartym na konwencjonalnych kadencjach IV, V, I lub II, V, I;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prosta harmonia oddziałuje na rysunek melodii, w którym często pojawiają </a:t>
            </a:r>
            <a:r>
              <a:rPr lang="pl-PL"/>
              <a:t>się</a:t>
            </a:r>
            <a:r>
              <a:rPr lang="pl-PL"/>
              <a:t> motywy oparte na rozłożonych trójdźwiękach.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Pojawia się rozgraniczenie stylu wypowiedzi muzycznej na: narracyjny (recytatyw), dramatyczny (arioso), liryczny (aria)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6ec91690a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wariacje stroficzne</a:t>
            </a:r>
            <a:endParaRPr/>
          </a:p>
        </p:txBody>
      </p:sp>
      <p:sp>
        <p:nvSpPr>
          <p:cNvPr id="97" name="Google Shape;97;g346ec91690a_0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3200"/>
              <a:t>Każda zwrotka ma tę samą (lub z niewielkimi zmianami) linię basu, natomiast melodia głosu górnego w każdej zwrotce jest kształtowana odmiennie.</a:t>
            </a:r>
            <a:endParaRPr sz="3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3200" u="sng">
                <a:solidFill>
                  <a:schemeClr val="hlink"/>
                </a:solidFill>
                <a:hlinkClick r:id="rId3"/>
              </a:rPr>
              <a:t>https://www.google.com/search?q=Monteverdi+possente+spirto&amp;oq=Monteverdi+possente+spirto&amp;gs_lcrp=EgZjaHJvbWUyBggAEEUYOTIKCAEQABgTGBYYHjIKCAIQABgTGBYYHjIKCAMQABgTGBYYHjIMCAQQABgKGBMYFhgeMgoIBRAAGBMYFhgeMgcIBhAAGO8F0gEKMTQ0MDlqMGoxNagCCLACAfEFqjAa4RKV9TE&amp;sourceid=chrome&amp;ie=UTF-8#fpstate=ive&amp;vld=cid:25f0c1e6,vid:VYqF3TTaZcc,st:0</a:t>
            </a:r>
            <a:endParaRPr sz="3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3200"/>
              <a:t>Monteverdi, Possente spirto (L’Orfeo), 1607</a:t>
            </a:r>
            <a:endParaRPr sz="3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wariacje ostinatowe - linia głosu górnego rozwija się na tle powtarzanych, krótkich formuł basowych (np. bas typu chaconne, passacaglia, romanesca etc)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6ec91690a_0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późny</a:t>
            </a:r>
            <a:r>
              <a:rPr lang="pl-PL"/>
              <a:t> madrygał - formy wieloczęściowe</a:t>
            </a:r>
            <a:endParaRPr/>
          </a:p>
        </p:txBody>
      </p:sp>
      <p:sp>
        <p:nvSpPr>
          <p:cNvPr id="103" name="Google Shape;103;g346ec91690a_0_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Monteverdi - VIII księga (1638), Altri canti d’amor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https://www.youtube.com/watch?v=5vmMW12LbRg</a:t>
            </a:r>
            <a:r>
              <a:rPr lang="pl-PL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Alessandro Grandi „</a:t>
            </a:r>
            <a:r>
              <a:rPr b="1" lang="pl-PL"/>
              <a:t>Cantade</a:t>
            </a:r>
            <a:r>
              <a:rPr lang="pl-PL"/>
              <a:t> et Arie a voce sola”, Wenecja 1620</a:t>
            </a:r>
            <a:endParaRPr/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Rozwija się w naturalny sposób z madrygału (Monteverdi VIII księga – madrygały wieloczęściowe, części o różnej obsadzie i charakterze)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Teksty - tematyka zbliżona do madrygałowych, lecz inna forma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Przeznaczona dla wykonawców-profesjonalistów (wirtuozeria wokalna + umiejętność wyrażania uczuć)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Powstaje w środowisku kameralnym, dla ekskluzywnej publiczności, najczęściej w akademiach, lub w rezydencjach arystokratów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Termin „cantata” stosowany powszechnie dopiero po 1670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Rozwój formy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Kantaty Grandiego są wariacjami stroficznymi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Do 1650 kantaty składają się z wariacji stroficznych, pieśni, krótkich arii, przekomponowanego recytatywu. Nie zawsze części są oddzielone wyraźnie od siebie. U L. Rossiego – nawet pojedyncze arie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Po 1650 podstawowymi współczynnikami są już recytatyw i aria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Pod koniec XVII i w XVIII wieku – wyraźny podział na krótkie recytatywy i rozbudowane arie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Rozwój kantaty przebiega paralelnie do rozwoju opery, choć uważa się, ze w niektórych przypadkach kantata jest „laboratorium” opery, z uwagi na jej elitarną publiczność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Rzym (1644-1655) okres zamknięcia teatrów operowych w rezydencjach</a:t>
            </a:r>
            <a:endParaRPr/>
          </a:p>
        </p:txBody>
      </p:sp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Kantata stanowi substytut opery (powstają także k. o tekstach dramatycznych)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Kompozytorzy: miejscowi – Giacomo Carissimi (1605-1674), Luigi Rossi (1598-1653) – ok. 300 kantat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Kompozytorzy przyjezdni: Antonio Cesti (1623-1669), Alessandro Stradella (1639-1682), Alessandro Scarlatti (1660-1725), Georg Friedrich Haendel (1685-1759)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Kantaty Carissimiego</a:t>
            </a:r>
            <a:endParaRPr/>
          </a:p>
        </p:txBody>
      </p:sp>
      <p:sp>
        <p:nvSpPr>
          <p:cNvPr id="127" name="Google Shape;12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Deh memoria (Lament Marii Stuart) – florencki recytatyw </a:t>
            </a:r>
            <a:r>
              <a:rPr lang="pl-PL" u="sng">
                <a:solidFill>
                  <a:schemeClr val="hlink"/>
                </a:solidFill>
                <a:hlinkClick r:id="rId3"/>
              </a:rPr>
              <a:t>https://www.youtube.com/watch?v=0eBwPRocwX8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I Philosophi – duet, „spór o naturę miłości” </a:t>
            </a:r>
            <a:r>
              <a:rPr lang="pl-PL" u="sng">
                <a:solidFill>
                  <a:schemeClr val="hlink"/>
                </a:solidFill>
                <a:hlinkClick r:id="rId4"/>
              </a:rPr>
              <a:t>https://www.youtube.com/watch?v=hTfsQhRlYP0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Cosi volete – forma zwrotkowa z refrenem </a:t>
            </a:r>
            <a:r>
              <a:rPr lang="pl-PL" u="sng">
                <a:solidFill>
                  <a:schemeClr val="hlink"/>
                </a:solidFill>
                <a:hlinkClick r:id="rId5"/>
              </a:rPr>
              <a:t>https://www.youtube.com/watch?v=vn5JFeM5TNc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Barbara Strozzi </a:t>
            </a:r>
            <a:r>
              <a:rPr lang="pl-PL" u="sng">
                <a:solidFill>
                  <a:schemeClr val="hlink"/>
                </a:solidFill>
                <a:hlinkClick r:id="rId3"/>
              </a:rPr>
              <a:t>https://barbarastrozzi.com/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l-PL"/>
              <a:t>1619-1677, córka poety Giulio Strozziego i jego służącej, uczennica Francesco Cavallego, brała udział w spotkaniach Accademia degli Unisoni w Wenecji, założonej przez ojca. Opublikowała 8 zbiorów kompozycji (głównie arie i kantaty). Być może była kurtyzaną, nigdy nie wyszła za mąż.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l-PL" u="sng">
                <a:solidFill>
                  <a:schemeClr val="hlink"/>
                </a:solidFill>
                <a:hlinkClick r:id="rId4"/>
              </a:rPr>
              <a:t>https://www.youtube.com/watch?v=cL17k49ORCI</a:t>
            </a:r>
            <a:r>
              <a:rPr lang="pl-PL"/>
              <a:t> Che si puo fare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EA736F3E4807409FC2AD1DF131DC97" ma:contentTypeVersion="7" ma:contentTypeDescription="Utwórz nowy dokument." ma:contentTypeScope="" ma:versionID="2f65554e001a104de1e837ede77d9b54">
  <xsd:schema xmlns:xsd="http://www.w3.org/2001/XMLSchema" xmlns:xs="http://www.w3.org/2001/XMLSchema" xmlns:p="http://schemas.microsoft.com/office/2006/metadata/properties" xmlns:ns2="d69dc642-48f7-4e58-8e1f-5ae592413238" targetNamespace="http://schemas.microsoft.com/office/2006/metadata/properties" ma:root="true" ma:fieldsID="7eb54fb987e1b7a686c2de0228e15e3b" ns2:_="">
    <xsd:import namespace="d69dc642-48f7-4e58-8e1f-5ae592413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dc642-48f7-4e58-8e1f-5ae592413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AF96A0-4824-4C58-8341-4CA4873B0B0E}"/>
</file>

<file path=customXml/itemProps2.xml><?xml version="1.0" encoding="utf-8"?>
<ds:datastoreItem xmlns:ds="http://schemas.openxmlformats.org/officeDocument/2006/customXml" ds:itemID="{7B8DCC9B-FC28-4F68-BD66-9481CAA336A1}"/>
</file>

<file path=customXml/itemProps3.xml><?xml version="1.0" encoding="utf-8"?>
<ds:datastoreItem xmlns:ds="http://schemas.openxmlformats.org/officeDocument/2006/customXml" ds:itemID="{F975051B-5C95-4395-819A-F9CD8CCD05EB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Magdalena Walter-Mazur</dc:creator>
  <dcterms:created xsi:type="dcterms:W3CDTF">2024-05-14T07:21:18Z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0x010100F1EA736F3E4807409FC2AD1DF131DC97</vt:lpwstr>
  </property>
</Properties>
</file>