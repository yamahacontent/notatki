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0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3025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062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070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180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053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286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57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417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709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94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103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21053-539B-4E60-B7A6-381D575BDC24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81C3-6FF1-4FC8-8A1C-250F8DEC586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522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-1oxfordmusiconline-1com-1d4eyq93m2b1d.han.amu.edu.pl/grovemusic/view/10.1093/gmo/9781561592630.001.0001/omo-9781561592630-e-0000002097?rskey=bjD5qs&amp;result=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Pojęcie baroku muzycznego i periodyzacja epoki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Magdalena Walter-Mazur</a:t>
            </a:r>
          </a:p>
        </p:txBody>
      </p:sp>
    </p:spTree>
    <p:extLst>
      <p:ext uri="{BB962C8B-B14F-4D97-AF65-F5344CB8AC3E}">
        <p14:creationId xmlns:p14="http://schemas.microsoft.com/office/powerpoint/2010/main" val="4991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Termin „barok”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Pochodzi od portugalskiego słowa ‚</a:t>
            </a:r>
            <a:r>
              <a:rPr lang="pl-PL" dirty="0" err="1"/>
              <a:t>barroco</a:t>
            </a:r>
            <a:r>
              <a:rPr lang="pl-PL" dirty="0"/>
              <a:t>’ oznaczającego perłę o nieregularnym kształcie, w innych językach romańskich stało się synonimem określenia „dziwaczny”, „zdeformowany”, „śmieszny”.</a:t>
            </a:r>
          </a:p>
          <a:p>
            <a:r>
              <a:rPr lang="pl-PL" dirty="0"/>
              <a:t>Wg. C. </a:t>
            </a:r>
            <a:r>
              <a:rPr lang="pl-PL" dirty="0" err="1"/>
              <a:t>Palisca</a:t>
            </a:r>
            <a:r>
              <a:rPr lang="pl-PL" dirty="0"/>
              <a:t> po raz pierwszy użyto go właśnie w odniesieniu do muzyki (w satyrycznym opublikowanym liście po premierze opery Rameau </a:t>
            </a:r>
            <a:r>
              <a:rPr lang="pl-PL" i="1" dirty="0" err="1"/>
              <a:t>Hipolyte</a:t>
            </a:r>
            <a:r>
              <a:rPr lang="pl-PL" i="1" dirty="0"/>
              <a:t> et Aricie </a:t>
            </a:r>
            <a:r>
              <a:rPr lang="pl-PL" dirty="0"/>
              <a:t>w 1733 roku – opera była „</a:t>
            </a:r>
            <a:r>
              <a:rPr lang="pl-PL" dirty="0" err="1"/>
              <a:t>du</a:t>
            </a:r>
            <a:r>
              <a:rPr lang="pl-PL" dirty="0"/>
              <a:t> </a:t>
            </a:r>
            <a:r>
              <a:rPr lang="pl-PL" dirty="0" err="1"/>
              <a:t>baroque</a:t>
            </a:r>
            <a:r>
              <a:rPr lang="pl-PL" dirty="0"/>
              <a:t>”)</a:t>
            </a:r>
          </a:p>
          <a:p>
            <a:r>
              <a:rPr lang="pl-PL" dirty="0"/>
              <a:t>W 1855 do architektury (Charles de </a:t>
            </a:r>
            <a:r>
              <a:rPr lang="pl-PL" dirty="0" err="1"/>
              <a:t>Brosses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54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J.J. Rousseau – </a:t>
            </a:r>
            <a:r>
              <a:rPr lang="pl-PL" dirty="0" err="1"/>
              <a:t>Dictionnaire</a:t>
            </a:r>
            <a:r>
              <a:rPr lang="pl-PL" dirty="0"/>
              <a:t> de  </a:t>
            </a:r>
            <a:r>
              <a:rPr lang="pl-PL" dirty="0" err="1"/>
              <a:t>musique</a:t>
            </a:r>
            <a:r>
              <a:rPr lang="pl-PL" dirty="0"/>
              <a:t>, Paris 1768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„Barokowa muzyka to taka, w której harmonia jest pogmatwana, przepełniona modulacjami i dysonansami, melodia jest szorstka i niezbyt naturalna, intonacja trudna a przebieg wymuszony”</a:t>
            </a:r>
          </a:p>
        </p:txBody>
      </p:sp>
    </p:spTree>
    <p:extLst>
      <p:ext uri="{BB962C8B-B14F-4D97-AF65-F5344CB8AC3E}">
        <p14:creationId xmlns:p14="http://schemas.microsoft.com/office/powerpoint/2010/main" val="260023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Interpretacje sztuki XVII i </a:t>
            </a:r>
            <a:r>
              <a:rPr lang="pl-PL" dirty="0" err="1"/>
              <a:t>I</a:t>
            </a:r>
            <a:r>
              <a:rPr lang="pl-PL" dirty="0"/>
              <a:t> poł. XVIII wieku do lat 40-tych XX w.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Krytyczny stosunek pisarzy z okresu klasycyzmu został odziedziczony przez wiek XIX</a:t>
            </a:r>
          </a:p>
          <a:p>
            <a:r>
              <a:rPr lang="pl-PL" dirty="0"/>
              <a:t>Na pojmowaniu muzyki tego okresu zaważyły koncepcje historyków sztuk plastycznych, szczególnie architektury</a:t>
            </a:r>
          </a:p>
          <a:p>
            <a:r>
              <a:rPr lang="pl-PL" dirty="0"/>
              <a:t>Benedetto Croce (1866-1952) filozof, krytyk literacki, liberał, odmawiał wszelkiego artyzmu dziełom tej epoki</a:t>
            </a:r>
          </a:p>
        </p:txBody>
      </p:sp>
    </p:spTree>
    <p:extLst>
      <p:ext uri="{BB962C8B-B14F-4D97-AF65-F5344CB8AC3E}">
        <p14:creationId xmlns:p14="http://schemas.microsoft.com/office/powerpoint/2010/main" val="265836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Heinrich </a:t>
            </a:r>
            <a:r>
              <a:rPr lang="pl-PL" dirty="0" err="1"/>
              <a:t>Wölfflin</a:t>
            </a:r>
            <a:r>
              <a:rPr lang="pl-PL" dirty="0"/>
              <a:t> i </a:t>
            </a:r>
            <a:r>
              <a:rPr lang="pl-PL" dirty="0" err="1"/>
              <a:t>Curt</a:t>
            </a:r>
            <a:r>
              <a:rPr lang="pl-PL" dirty="0"/>
              <a:t> </a:t>
            </a:r>
            <a:r>
              <a:rPr lang="pl-PL" dirty="0" err="1"/>
              <a:t>Sachs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H.W. „Podstawowe pojęcia historii sztuki” (1915) tworzy  pary pojęć opisujących następujące po sobie okresy (style) na wzór renesansu i baroku (w odniesieniu do sztuk plastycznych)</a:t>
            </a:r>
          </a:p>
          <a:p>
            <a:r>
              <a:rPr lang="pl-PL" dirty="0"/>
              <a:t>C.S. „</a:t>
            </a:r>
            <a:r>
              <a:rPr lang="pl-PL" dirty="0" err="1"/>
              <a:t>Barockmusik</a:t>
            </a:r>
            <a:r>
              <a:rPr lang="pl-PL" dirty="0"/>
              <a:t>” (1919) aplikuje te pojęcia do historii muzyki </a:t>
            </a:r>
          </a:p>
          <a:p>
            <a:r>
              <a:rPr lang="pl-PL" dirty="0"/>
              <a:t>Inni niemieccy muzykolodzy unikają pojęcia b. (Hugo Riemann, 1912: </a:t>
            </a:r>
            <a:r>
              <a:rPr lang="pl-PL" dirty="0" err="1"/>
              <a:t>Generalbass-Zeitalter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6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„Antonimy </a:t>
            </a:r>
            <a:r>
              <a:rPr lang="pl-PL" dirty="0" err="1"/>
              <a:t>Wölfflina</a:t>
            </a:r>
            <a:r>
              <a:rPr lang="pl-PL" dirty="0"/>
              <a:t>”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1. linearyzm – malarskość</a:t>
            </a:r>
          </a:p>
          <a:p>
            <a:r>
              <a:rPr lang="pl-PL" dirty="0"/>
              <a:t>2. płaszczyzna – głębia</a:t>
            </a:r>
          </a:p>
          <a:p>
            <a:r>
              <a:rPr lang="pl-PL" dirty="0"/>
              <a:t>3. forma zamknięta – forma otwarta</a:t>
            </a:r>
          </a:p>
          <a:p>
            <a:r>
              <a:rPr lang="pl-PL" dirty="0"/>
              <a:t>4. wielość – jedność</a:t>
            </a:r>
          </a:p>
          <a:p>
            <a:r>
              <a:rPr lang="pl-PL" dirty="0"/>
              <a:t>5. jasność - niejasność</a:t>
            </a:r>
          </a:p>
        </p:txBody>
      </p:sp>
    </p:spTree>
    <p:extLst>
      <p:ext uri="{BB962C8B-B14F-4D97-AF65-F5344CB8AC3E}">
        <p14:creationId xmlns:p14="http://schemas.microsoft.com/office/powerpoint/2010/main" val="421780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Robert Haas - periodyzacja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R.H. „</a:t>
            </a:r>
            <a:r>
              <a:rPr lang="pl-PL" dirty="0" err="1"/>
              <a:t>Die</a:t>
            </a:r>
            <a:r>
              <a:rPr lang="pl-PL" dirty="0"/>
              <a:t> Musik des </a:t>
            </a:r>
            <a:r>
              <a:rPr lang="pl-PL" dirty="0" err="1"/>
              <a:t>Baroks</a:t>
            </a:r>
            <a:r>
              <a:rPr lang="pl-PL" dirty="0"/>
              <a:t>”, </a:t>
            </a:r>
            <a:r>
              <a:rPr lang="pl-PL" dirty="0" err="1"/>
              <a:t>Potsdam</a:t>
            </a:r>
            <a:r>
              <a:rPr lang="pl-PL" dirty="0"/>
              <a:t> 1928</a:t>
            </a:r>
          </a:p>
          <a:p>
            <a:r>
              <a:rPr lang="pl-PL" dirty="0"/>
              <a:t>Sprzeciwił się rzutowaniu koncepcji sprawdzających się w historii sztuki na dziedzinę muzyki. Omówił muzykę baroku w kategoriach stylistycznych i socjologicznych</a:t>
            </a:r>
          </a:p>
          <a:p>
            <a:r>
              <a:rPr lang="pl-PL" dirty="0"/>
              <a:t>Zaproponował odrębną periodyzację m.b.:</a:t>
            </a:r>
          </a:p>
          <a:p>
            <a:pPr marL="0" indent="0">
              <a:buNone/>
            </a:pPr>
            <a:r>
              <a:rPr lang="pl-PL" dirty="0"/>
              <a:t>1594 (śmierć Lassa i Palestriny) – do poł. XVIII wieku (śmierć Bacha 1750)</a:t>
            </a:r>
          </a:p>
        </p:txBody>
      </p:sp>
    </p:spTree>
    <p:extLst>
      <p:ext uri="{BB962C8B-B14F-4D97-AF65-F5344CB8AC3E}">
        <p14:creationId xmlns:p14="http://schemas.microsoft.com/office/powerpoint/2010/main" val="148784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pl-PL" dirty="0"/>
              <a:t>Manfred </a:t>
            </a:r>
            <a:r>
              <a:rPr lang="pl-PL" dirty="0" err="1"/>
              <a:t>Bukofzer</a:t>
            </a:r>
            <a:r>
              <a:rPr lang="pl-PL" dirty="0"/>
              <a:t> – dogłębne, podręcznikowe studium epoki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857403"/>
          </a:xfrm>
        </p:spPr>
        <p:txBody>
          <a:bodyPr>
            <a:normAutofit/>
          </a:bodyPr>
          <a:lstStyle/>
          <a:p>
            <a:r>
              <a:rPr lang="pl-PL" sz="2800" dirty="0"/>
              <a:t>Music in the </a:t>
            </a:r>
            <a:r>
              <a:rPr lang="pl-PL" sz="2800" dirty="0" err="1"/>
              <a:t>Baroque</a:t>
            </a:r>
            <a:r>
              <a:rPr lang="pl-PL" sz="2800" dirty="0"/>
              <a:t> Era. From Monteverdi to Bach, NY 1947</a:t>
            </a:r>
          </a:p>
          <a:p>
            <a:r>
              <a:rPr lang="pl-PL" sz="2800" dirty="0"/>
              <a:t>Trzy podokresy: </a:t>
            </a:r>
          </a:p>
          <a:p>
            <a:pPr marL="0" indent="0">
              <a:buNone/>
            </a:pPr>
            <a:r>
              <a:rPr lang="pl-PL" sz="2800" dirty="0"/>
              <a:t>1580-1630 - emfaza w trakt. tekstu, eksperymenty </a:t>
            </a:r>
            <a:r>
              <a:rPr lang="pl-PL" sz="2800" dirty="0" err="1"/>
              <a:t>harm</a:t>
            </a:r>
            <a:r>
              <a:rPr lang="pl-PL" sz="2800" dirty="0"/>
              <a:t>., formy </a:t>
            </a:r>
            <a:r>
              <a:rPr lang="pl-PL" sz="2800" dirty="0" err="1"/>
              <a:t>drobnoodcinkowe</a:t>
            </a:r>
            <a:r>
              <a:rPr lang="pl-PL" sz="2800" dirty="0"/>
              <a:t>, swoboda rytmiczna</a:t>
            </a:r>
          </a:p>
          <a:p>
            <a:pPr marL="0" indent="0">
              <a:buNone/>
            </a:pPr>
            <a:r>
              <a:rPr lang="pl-PL" sz="2800" dirty="0"/>
              <a:t>1630-1680 – styl bel canto, ograniczenie i wydłużenie odcinków, zaczyna się wykształcać tonalność</a:t>
            </a:r>
          </a:p>
          <a:p>
            <a:pPr marL="0" indent="0">
              <a:buNone/>
            </a:pPr>
            <a:r>
              <a:rPr lang="pl-PL" sz="2800" dirty="0"/>
              <a:t>1680-1730 – styl concerto, skrystalizowana tonalność, homofonia </a:t>
            </a:r>
            <a:r>
              <a:rPr lang="pl-PL" sz="2800" dirty="0" err="1"/>
              <a:t>continuo</a:t>
            </a:r>
            <a:r>
              <a:rPr lang="pl-PL" sz="2800" dirty="0"/>
              <a:t>, formy muzyczne rozrastają się</a:t>
            </a:r>
          </a:p>
        </p:txBody>
      </p:sp>
    </p:spTree>
    <p:extLst>
      <p:ext uri="{BB962C8B-B14F-4D97-AF65-F5344CB8AC3E}">
        <p14:creationId xmlns:p14="http://schemas.microsoft.com/office/powerpoint/2010/main" val="317678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Susanne </a:t>
            </a:r>
            <a:r>
              <a:rPr lang="pl-PL" dirty="0" err="1"/>
              <a:t>Clercx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l-PL" dirty="0"/>
              <a:t>Le </a:t>
            </a:r>
            <a:r>
              <a:rPr lang="pl-PL" dirty="0" err="1"/>
              <a:t>baroque</a:t>
            </a:r>
            <a:r>
              <a:rPr lang="pl-PL" dirty="0"/>
              <a:t> et la </a:t>
            </a:r>
            <a:r>
              <a:rPr lang="pl-PL" dirty="0" err="1"/>
              <a:t>musique</a:t>
            </a:r>
            <a:r>
              <a:rPr lang="pl-PL" dirty="0"/>
              <a:t>, </a:t>
            </a:r>
            <a:r>
              <a:rPr lang="pl-PL" dirty="0" err="1"/>
              <a:t>Bruxelles</a:t>
            </a:r>
            <a:r>
              <a:rPr lang="pl-PL" dirty="0"/>
              <a:t> 1948</a:t>
            </a:r>
          </a:p>
          <a:p>
            <a:r>
              <a:rPr lang="pl-PL" dirty="0"/>
              <a:t>Skupia się na analizie melodyki, rytmiki i harmonii</a:t>
            </a:r>
          </a:p>
          <a:p>
            <a:r>
              <a:rPr lang="pl-PL" dirty="0"/>
              <a:t>Barok: sztuka ruchu, kontrastu, dynamizmu.</a:t>
            </a:r>
          </a:p>
          <a:p>
            <a:r>
              <a:rPr lang="pl-PL" dirty="0"/>
              <a:t>Nie abstrakcja lecz naśladowanie natury. Przemieszanie form, gatunków i technik. Sztuka wariacji, obfitości i zaskakujących efektów. Bogactwo środków prowadzi do deformacji, lecz z drugiej strony – do wirtuozostwa</a:t>
            </a:r>
          </a:p>
        </p:txBody>
      </p:sp>
    </p:spTree>
    <p:extLst>
      <p:ext uri="{BB962C8B-B14F-4D97-AF65-F5344CB8AC3E}">
        <p14:creationId xmlns:p14="http://schemas.microsoft.com/office/powerpoint/2010/main" val="345937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Friedrich </a:t>
            </a:r>
            <a:r>
              <a:rPr lang="pl-PL" dirty="0" err="1"/>
              <a:t>Blume</a:t>
            </a:r>
            <a:r>
              <a:rPr lang="pl-PL" dirty="0"/>
              <a:t> – </a:t>
            </a:r>
            <a:r>
              <a:rPr lang="pl-PL" dirty="0" err="1"/>
              <a:t>Barock</a:t>
            </a:r>
            <a:r>
              <a:rPr lang="pl-PL" dirty="0"/>
              <a:t> (1949-1951 MGG)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Nowe spojrzenie: nie „zaburzenie” klasyczności renesansu, lecz kontynuacja, rozwinięcie. Duży nacisk na retoryczność, perswazję, znaczenie w muzyce. Świadomość stylistyczna: prima i </a:t>
            </a:r>
            <a:r>
              <a:rPr lang="pl-PL" dirty="0" err="1"/>
              <a:t>seconda</a:t>
            </a:r>
            <a:r>
              <a:rPr lang="pl-PL" dirty="0"/>
              <a:t> </a:t>
            </a:r>
            <a:r>
              <a:rPr lang="pl-PL" dirty="0" err="1"/>
              <a:t>prattica</a:t>
            </a:r>
            <a:r>
              <a:rPr lang="pl-PL" dirty="0"/>
              <a:t>, </a:t>
            </a:r>
            <a:r>
              <a:rPr lang="pl-PL" dirty="0" err="1"/>
              <a:t>musica</a:t>
            </a:r>
            <a:r>
              <a:rPr lang="pl-PL" dirty="0"/>
              <a:t> </a:t>
            </a:r>
            <a:r>
              <a:rPr lang="pl-PL" dirty="0" err="1"/>
              <a:t>ecclesiastica</a:t>
            </a:r>
            <a:r>
              <a:rPr lang="pl-PL" dirty="0"/>
              <a:t>, </a:t>
            </a:r>
            <a:r>
              <a:rPr lang="pl-PL" dirty="0" err="1"/>
              <a:t>cubicularis</a:t>
            </a:r>
            <a:r>
              <a:rPr lang="pl-PL" dirty="0"/>
              <a:t> i </a:t>
            </a:r>
            <a:r>
              <a:rPr lang="pl-PL" dirty="0" err="1"/>
              <a:t>theatralis</a:t>
            </a:r>
            <a:r>
              <a:rPr lang="pl-PL" dirty="0"/>
              <a:t>. Trwałe zdobycze: poczucie akordu, tonalność dur-moll, </a:t>
            </a:r>
            <a:r>
              <a:rPr lang="pl-PL" dirty="0" err="1"/>
              <a:t>temperacja</a:t>
            </a:r>
            <a:r>
              <a:rPr lang="pl-PL" dirty="0"/>
              <a:t>, takt, poczucie formy muzycznej, rozwój muzyki instrumentalnej. Zwraca uwagę na odmienne cechy baroku we Francji, Anglii, Niemczech.</a:t>
            </a:r>
          </a:p>
        </p:txBody>
      </p:sp>
    </p:spTree>
    <p:extLst>
      <p:ext uri="{BB962C8B-B14F-4D97-AF65-F5344CB8AC3E}">
        <p14:creationId xmlns:p14="http://schemas.microsoft.com/office/powerpoint/2010/main" val="2151056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l-PL" dirty="0"/>
              <a:t>Problem manieryzmu – styl czy epoka?</a:t>
            </a:r>
            <a:br>
              <a:rPr lang="pl-PL" dirty="0"/>
            </a:br>
            <a:r>
              <a:rPr lang="pl-PL" dirty="0"/>
              <a:t>Lata 50-70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pl-PL" dirty="0"/>
              <a:t>Wg. Roberta Ericha Wolfa: 1520-30 do 1630-40</a:t>
            </a:r>
          </a:p>
          <a:p>
            <a:r>
              <a:rPr lang="pl-PL" dirty="0"/>
              <a:t>Cechy muzyki manieryzmu: całkowita dominacja słowa nad muzyką, eksperymenty, dysonansowość, rytmika mowy, silne kontrasty, maksymalna ekspresja.</a:t>
            </a:r>
          </a:p>
          <a:p>
            <a:r>
              <a:rPr lang="pl-PL" dirty="0"/>
              <a:t>Gatunek typowo manierystyczny: madrygał.</a:t>
            </a:r>
          </a:p>
        </p:txBody>
      </p:sp>
    </p:spTree>
    <p:extLst>
      <p:ext uri="{BB962C8B-B14F-4D97-AF65-F5344CB8AC3E}">
        <p14:creationId xmlns:p14="http://schemas.microsoft.com/office/powerpoint/2010/main" val="397395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 poszukiwaniu innych pomysłów, niż podział na epoki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New Oxford </a:t>
            </a:r>
            <a:r>
              <a:rPr lang="pl-PL" dirty="0" err="1"/>
              <a:t>History</a:t>
            </a:r>
            <a:r>
              <a:rPr lang="pl-PL" dirty="0"/>
              <a:t> of Music: The Age of </a:t>
            </a:r>
            <a:r>
              <a:rPr lang="pl-PL" dirty="0" err="1"/>
              <a:t>Humanism</a:t>
            </a:r>
            <a:r>
              <a:rPr lang="pl-PL" dirty="0"/>
              <a:t> (1540-1630), Opera and Church Music (1630-1750), Concert Music (1630-1750)</a:t>
            </a:r>
          </a:p>
          <a:p>
            <a:r>
              <a:rPr lang="pl-PL" dirty="0"/>
              <a:t>Lata 80-te: </a:t>
            </a:r>
          </a:p>
          <a:p>
            <a:pPr marL="0" indent="0">
              <a:buNone/>
            </a:pPr>
            <a:r>
              <a:rPr lang="pl-PL" dirty="0"/>
              <a:t>„periodyzacja </a:t>
            </a:r>
            <a:r>
              <a:rPr lang="pl-PL" dirty="0" err="1"/>
              <a:t>stuleciowa</a:t>
            </a:r>
            <a:r>
              <a:rPr lang="pl-PL" dirty="0"/>
              <a:t>”</a:t>
            </a:r>
          </a:p>
          <a:p>
            <a:pPr marL="0" indent="0">
              <a:buNone/>
            </a:pPr>
            <a:r>
              <a:rPr lang="pl-PL" dirty="0"/>
              <a:t>(</a:t>
            </a:r>
            <a:r>
              <a:rPr lang="pl-PL" dirty="0" err="1"/>
              <a:t>Neues</a:t>
            </a:r>
            <a:r>
              <a:rPr lang="pl-PL" dirty="0"/>
              <a:t> </a:t>
            </a:r>
            <a:r>
              <a:rPr lang="pl-PL" dirty="0" err="1"/>
              <a:t>Handbuch</a:t>
            </a:r>
            <a:r>
              <a:rPr lang="pl-PL" dirty="0"/>
              <a:t> der </a:t>
            </a:r>
            <a:r>
              <a:rPr lang="pl-PL" dirty="0" err="1"/>
              <a:t>Musikwissenschaft</a:t>
            </a:r>
            <a:r>
              <a:rPr lang="pl-PL" dirty="0"/>
              <a:t> red. C. </a:t>
            </a:r>
            <a:r>
              <a:rPr lang="pl-PL" dirty="0" err="1"/>
              <a:t>Dahlhaus</a:t>
            </a:r>
            <a:r>
              <a:rPr lang="pl-PL" dirty="0"/>
              <a:t>, </a:t>
            </a:r>
            <a:r>
              <a:rPr lang="pl-PL" dirty="0" err="1"/>
              <a:t>Storia</a:t>
            </a:r>
            <a:r>
              <a:rPr lang="pl-PL" dirty="0"/>
              <a:t> </a:t>
            </a:r>
            <a:r>
              <a:rPr lang="pl-PL" dirty="0" err="1"/>
              <a:t>della</a:t>
            </a:r>
            <a:r>
              <a:rPr lang="pl-PL" dirty="0"/>
              <a:t> </a:t>
            </a:r>
            <a:r>
              <a:rPr lang="pl-PL" dirty="0" err="1"/>
              <a:t>musica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6169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Podstawowa literatura: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92500"/>
          </a:bodyPr>
          <a:lstStyle/>
          <a:p>
            <a:r>
              <a:rPr lang="pl-PL" dirty="0"/>
              <a:t>Z. M. Szweykowski, Historia muzyki XVII wieku, t. I, Pierwsze zmiany, s. 11-47.</a:t>
            </a:r>
          </a:p>
          <a:p>
            <a:r>
              <a:rPr lang="pl-PL" dirty="0"/>
              <a:t>C. </a:t>
            </a:r>
            <a:r>
              <a:rPr lang="pl-PL" dirty="0" err="1"/>
              <a:t>Palisca</a:t>
            </a:r>
            <a:r>
              <a:rPr lang="pl-PL" dirty="0"/>
              <a:t>, </a:t>
            </a:r>
            <a:r>
              <a:rPr lang="pl-PL" dirty="0" err="1"/>
              <a:t>Baroque</a:t>
            </a:r>
            <a:r>
              <a:rPr lang="pl-PL" dirty="0"/>
              <a:t>, w: New </a:t>
            </a:r>
            <a:r>
              <a:rPr lang="pl-PL" dirty="0" err="1"/>
              <a:t>Grove</a:t>
            </a:r>
            <a:r>
              <a:rPr lang="pl-PL" dirty="0"/>
              <a:t> Dictionary of Music and </a:t>
            </a:r>
            <a:r>
              <a:rPr lang="pl-PL" dirty="0" err="1"/>
              <a:t>Musicians</a:t>
            </a:r>
            <a:r>
              <a:rPr lang="pl-PL" dirty="0"/>
              <a:t>, red. S. </a:t>
            </a:r>
            <a:r>
              <a:rPr lang="pl-PL" dirty="0" err="1"/>
              <a:t>Sadie</a:t>
            </a:r>
            <a:r>
              <a:rPr lang="pl-PL" dirty="0"/>
              <a:t>, London 2000-2001. </a:t>
            </a:r>
            <a:r>
              <a:rPr lang="pl-PL" dirty="0">
                <a:hlinkClick r:id="rId2"/>
              </a:rPr>
              <a:t>https://www-1oxfordmusiconline-1com-1d4eyq93m2b1d.han.amu.edu.pl/grovemusic/view/10.1093/gmo/9781561592630.001.0001/omo-9781561592630-e-0000002097?rskey=bjD5qs&amp;result=1</a:t>
            </a:r>
            <a:r>
              <a:rPr lang="pl-PL" dirty="0"/>
              <a:t> (dostęp ze strony Biblioteki Wydziału Historycznego </a:t>
            </a:r>
            <a:r>
              <a:rPr lang="pl-PL"/>
              <a:t>po zalogowaniu)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142329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4" ma:contentTypeDescription="Utwórz nowy dokument." ma:contentTypeScope="" ma:versionID="62f6f3bbf6e7b2b06dc3a172d813ca7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ca5d59b4953e6095b4ea946cb20e85bd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567A44-D8E9-46E9-93A2-7893C0BF53CE}"/>
</file>

<file path=customXml/itemProps2.xml><?xml version="1.0" encoding="utf-8"?>
<ds:datastoreItem xmlns:ds="http://schemas.openxmlformats.org/officeDocument/2006/customXml" ds:itemID="{2B3005A3-4859-4876-9A63-0EC8E4223E67}"/>
</file>

<file path=customXml/itemProps3.xml><?xml version="1.0" encoding="utf-8"?>
<ds:datastoreItem xmlns:ds="http://schemas.openxmlformats.org/officeDocument/2006/customXml" ds:itemID="{9D83529F-6D95-49C1-8977-69F8C3D01EF7}"/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763</Words>
  <Application>Microsoft Office PowerPoint</Application>
  <PresentationFormat>Pokaz na ekranie (4:3)</PresentationFormat>
  <Paragraphs>53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6" baseType="lpstr">
      <vt:lpstr>Arial</vt:lpstr>
      <vt:lpstr>Calibri</vt:lpstr>
      <vt:lpstr>Motyw pakietu Office</vt:lpstr>
      <vt:lpstr>Pojęcie baroku muzycznego i periodyzacja epoki</vt:lpstr>
      <vt:lpstr>Termin „barok”</vt:lpstr>
      <vt:lpstr>J.J. Rousseau – Dictionnaire de  musique, Paris 1768</vt:lpstr>
      <vt:lpstr>Interpretacje sztuki XVII i I poł. XVIII wieku do lat 40-tych XX w.</vt:lpstr>
      <vt:lpstr>Heinrich Wölfflin i Curt Sachs</vt:lpstr>
      <vt:lpstr>„Antonimy Wölfflina”</vt:lpstr>
      <vt:lpstr>Robert Haas - periodyzacja</vt:lpstr>
      <vt:lpstr>Manfred Bukofzer – dogłębne, podręcznikowe studium epoki</vt:lpstr>
      <vt:lpstr>Susanne Clercx</vt:lpstr>
      <vt:lpstr>Friedrich Blume – Barock (1949-1951 MGG)</vt:lpstr>
      <vt:lpstr>Problem manieryzmu – styl czy epoka? Lata 50-70</vt:lpstr>
      <vt:lpstr>W poszukiwaniu innych pomysłów, niż podział na epoki</vt:lpstr>
      <vt:lpstr>Podstawowa literatura: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Pojęcie baroku muzycznego i periodyzacja epoki</dc:title>
  <dc:creator>Magda i Tomek</dc:creator>
  <cp:lastModifiedBy>Magdalena Walter-Mazur</cp:lastModifiedBy>
  <cp:revision>20</cp:revision>
  <dcterms:created xsi:type="dcterms:W3CDTF">2020-03-09T13:06:09Z</dcterms:created>
  <dcterms:modified xsi:type="dcterms:W3CDTF">2023-02-27T18:45:45Z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