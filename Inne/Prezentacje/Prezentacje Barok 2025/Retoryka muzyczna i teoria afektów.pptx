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QiNZrZRi7S+3gA10dT93LabF/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customXml" Target="../customXml/item1.xml"/><Relationship Id="rId2" Type="http://schemas.openxmlformats.org/officeDocument/2006/relationships/presProps" Target="presProps.xml"/><Relationship Id="rId1" Type="http://schemas.openxmlformats.org/officeDocument/2006/relationships/theme" Target="theme/theme1.xml"/><Relationship Id="rId11" Type="http://customschemas.google.com/relationships/presentationmetadata" Target="metadata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da7344c7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da7344c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da7344c7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da7344c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Rt5ICP_olxs" TargetMode="External"/><Relationship Id="rId4" Type="http://schemas.openxmlformats.org/officeDocument/2006/relationships/hyperlink" Target="https://www.youtube.com/watch?v=IgF2fU-CcG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l-PL"/>
              <a:t>Retoryka muzyczna i teoria afektów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da7344c73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500"/>
              <a:t>Afekt</a:t>
            </a:r>
            <a:endParaRPr sz="4500"/>
          </a:p>
        </p:txBody>
      </p:sp>
      <p:sp>
        <p:nvSpPr>
          <p:cNvPr id="91" name="Google Shape;91;g35da7344c73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100"/>
              <a:t>Krótkotrwały stan psycho-fizjologiczny, powstały pod wpływem czynnika zewnętrznego lub jego wyobrażenia, manifestujący się w określony sposób;</a:t>
            </a:r>
            <a:endParaRPr sz="3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100"/>
              <a:t>Platon: radość, smutek (ból), strach, pożądanie, przyjemność, zuchwalstwo, gniew, nadzieja;</a:t>
            </a:r>
            <a:endParaRPr sz="3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100"/>
              <a:t>Kartezjusz: radość, nienawiść, miłość, smutek, pożądanie, podziw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Autorzy traktatów nt. muzycznej nauki o afektach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Marin Mersenne, </a:t>
            </a:r>
            <a:r>
              <a:rPr i="1" lang="pl-PL"/>
              <a:t>Harmonie universelle</a:t>
            </a:r>
            <a:r>
              <a:rPr lang="pl-PL"/>
              <a:t>, Paryż 1636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Giovanni Battista Doni, </a:t>
            </a:r>
            <a:r>
              <a:rPr i="1" lang="pl-PL"/>
              <a:t>Trattato della Musica Scenica</a:t>
            </a:r>
            <a:r>
              <a:rPr lang="pl-PL"/>
              <a:t> (pisana od lat 30-tych do śmierci w 1647, wydana dopiero w 1763 w Dziełach wszystkich Doniego).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Joan Albert Ban, </a:t>
            </a:r>
            <a:r>
              <a:rPr i="1" lang="pl-PL"/>
              <a:t>Dissertatio epistolica de musicae nature</a:t>
            </a:r>
            <a:r>
              <a:rPr lang="pl-PL"/>
              <a:t>…, Lejda 1637.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Athanasius Kircher, </a:t>
            </a:r>
            <a:r>
              <a:rPr i="1" lang="pl-PL"/>
              <a:t>Musurgia Universalis sive Ars magna Consoni et Dissoni</a:t>
            </a:r>
            <a:r>
              <a:rPr lang="pl-PL"/>
              <a:t>, Rzym 1650.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Aria da capo</a:t>
            </a:r>
            <a:br>
              <a:rPr lang="pl-PL"/>
            </a:b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PL-SA 74/A II 14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Scarlatti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https://www.youtube.com/watch?v=Rt5ICP_olxs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Bach Es ist vollbracht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https://www.youtube.com/watch?v=IgF2fU-CcGQ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Autorzy traktatów nt. retoryki muzycznej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6732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Joachim Burmeister, </a:t>
            </a:r>
            <a:r>
              <a:rPr i="1" lang="pl-PL"/>
              <a:t>Musica poetica</a:t>
            </a:r>
            <a:r>
              <a:rPr lang="pl-PL"/>
              <a:t>, Rostock 1606.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Johannes Nucius, </a:t>
            </a:r>
            <a:r>
              <a:rPr i="1" lang="pl-PL"/>
              <a:t>Musices practicae, sive de compositione cantus praeceptiones</a:t>
            </a:r>
            <a:r>
              <a:rPr lang="pl-PL"/>
              <a:t>, Neisse (Nysa Kłodzka) 1613.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Christoph Bernhard, </a:t>
            </a:r>
            <a:r>
              <a:rPr i="1" lang="pl-PL"/>
              <a:t>Tractatus compositionis augmentatus</a:t>
            </a:r>
            <a:r>
              <a:rPr lang="pl-PL"/>
              <a:t>, rkp ok. 1682.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Johann Mattheson, </a:t>
            </a:r>
            <a:r>
              <a:rPr i="1" lang="pl-PL"/>
              <a:t>Der Vollkomene Capellmeister</a:t>
            </a:r>
            <a:r>
              <a:rPr lang="pl-PL"/>
              <a:t>, Hamburg 1739.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da7344c73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Retoryka</a:t>
            </a:r>
            <a:endParaRPr/>
          </a:p>
        </p:txBody>
      </p:sp>
      <p:sp>
        <p:nvSpPr>
          <p:cNvPr id="115" name="Google Shape;115;g35da7344c73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- sztuka i teoria wygłaszania mów, budowania pięknej/perswazyjnej wypowiedzi;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- figura retoryczna jako “vitium” - błąd usprawiedliwiony względami piękna lub perswazji (np. powtórzenie, anafora);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- figury retoryczno-muzyczne: imitatio della natura - konwencja - próba opisu i racjonalizacji środków stosowanych przez muzyków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F4AD34-B283-4A99-B28B-094A6E480FFA}"/>
</file>

<file path=customXml/itemProps2.xml><?xml version="1.0" encoding="utf-8"?>
<ds:datastoreItem xmlns:ds="http://schemas.openxmlformats.org/officeDocument/2006/customXml" ds:itemID="{C5A1A89F-CB45-4376-8DB5-C7DB83D6EF61}"/>
</file>

<file path=customXml/itemProps3.xml><?xml version="1.0" encoding="utf-8"?>
<ds:datastoreItem xmlns:ds="http://schemas.openxmlformats.org/officeDocument/2006/customXml" ds:itemID="{C10A726F-8C68-4EEC-AD8D-73C5C0C9BF93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2024-05-28T07:54:07Z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