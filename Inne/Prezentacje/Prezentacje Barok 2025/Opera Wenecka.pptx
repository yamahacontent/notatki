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custom-properties" Target="docProps/custom.xml"/><Relationship Id="rId2" Type="http://schemas.openxmlformats.org/officeDocument/2006/relationships/officeDocument" Target="ppt/presentation.xml"/><Relationship Id="rId1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embeddedFontLst>
    <p:embeddedFont>
      <p:font typeface="PT Serif"/>
      <p:regular r:id="rId17"/>
      <p:bold r:id="rId18"/>
      <p:italic r:id="rId19"/>
      <p:boldItalic r:id="rId20"/>
    </p:embeddedFont>
    <p:embeddedFont>
      <p:font typeface="PT Sa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hdL3906h65cHCY+6MpzXcAcKmnv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PTSerif-bold.fntdata"/><Relationship Id="rId26" Type="http://schemas.openxmlformats.org/officeDocument/2006/relationships/customXml" Target="../customXml/item1.xml"/><Relationship Id="rId21" Type="http://schemas.openxmlformats.org/officeDocument/2006/relationships/font" Target="fonts/PTSans-regular.fntdata"/><Relationship Id="rId3" Type="http://schemas.openxmlformats.org/officeDocument/2006/relationships/slideMaster" Target="slideMasters/slideMaster1.xml"/><Relationship Id="rId25" Type="http://customschemas.google.com/relationships/presentationmetadata" Target="meta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PTSerif-regular.fntdata"/><Relationship Id="rId20" Type="http://schemas.openxmlformats.org/officeDocument/2006/relationships/font" Target="fonts/PTSerif-boldItalic.fntdata"/><Relationship Id="rId2" Type="http://schemas.openxmlformats.org/officeDocument/2006/relationships/presProps" Target="presProps.xml"/><Relationship Id="rId16" Type="http://schemas.openxmlformats.org/officeDocument/2006/relationships/slide" Target="slides/slide12.xml"/><Relationship Id="rId24" Type="http://schemas.openxmlformats.org/officeDocument/2006/relationships/font" Target="fonts/PTSans-boldItalic.fntdata"/><Relationship Id="rId1" Type="http://schemas.openxmlformats.org/officeDocument/2006/relationships/theme" Target="theme/theme2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3" Type="http://schemas.openxmlformats.org/officeDocument/2006/relationships/font" Target="fonts/PTSans-italic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8" Type="http://schemas.openxmlformats.org/officeDocument/2006/relationships/customXml" Target="../customXml/item3.xml"/><Relationship Id="rId10" Type="http://schemas.openxmlformats.org/officeDocument/2006/relationships/slide" Target="slides/slide6.xml"/><Relationship Id="rId19" Type="http://schemas.openxmlformats.org/officeDocument/2006/relationships/font" Target="fonts/PTSerif-italic.fntdata"/><Relationship Id="rId22" Type="http://schemas.openxmlformats.org/officeDocument/2006/relationships/font" Target="fonts/PTSans-bold.fntdata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7" Type="http://schemas.openxmlformats.org/officeDocument/2006/relationships/customXml" Target="../customXml/item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ajd tytułowy" showMasterSp="0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4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rotWithShape="1">
            <a:blip r:embed="rId2">
              <a:alphaModFix amt="85000"/>
            </a:blip>
            <a:tile algn="ctr" flip="xy" tx="0" sx="92000" ty="-762000" sy="89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4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rotWithShape="1">
            <a:blip r:embed="rId2">
              <a:alphaModFix amt="85000"/>
            </a:blip>
            <a:tile algn="ctr" flip="xy" tx="0" sx="92000" ty="-717550" sy="89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4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rotWithShape="1">
            <a:blip r:embed="rId2">
              <a:alphaModFix amt="85000"/>
            </a:blip>
            <a:tile algn="ctr" flip="xy" tx="0" sx="92000" ty="-704850" sy="89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" name="Google Shape;18;p14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9" name="Google Shape;19;p14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rotWithShape="1">
              <a:blip r:embed="rId3">
                <a:alphaModFix/>
              </a:blip>
              <a:tile algn="tl" flip="none" tx="0" sx="85000" ty="0" sy="85000"/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14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cap="flat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14"/>
          <p:cNvSpPr txBox="1"/>
          <p:nvPr>
            <p:ph type="ctrTitle"/>
          </p:nvPr>
        </p:nvSpPr>
        <p:spPr>
          <a:xfrm>
            <a:off x="1051560" y="1432223"/>
            <a:ext cx="9966960" cy="3035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600"/>
              <a:buFont typeface="Rockwell"/>
              <a:buNone/>
              <a:defRPr sz="96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4"/>
          <p:cNvSpPr txBox="1"/>
          <p:nvPr>
            <p:ph idx="1" type="subTitle"/>
          </p:nvPr>
        </p:nvSpPr>
        <p:spPr>
          <a:xfrm>
            <a:off x="1069848" y="4389120"/>
            <a:ext cx="7891272" cy="10698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70"/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70"/>
              <a:buNone/>
              <a:defRPr sz="22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70"/>
              <a:buNone/>
              <a:defRPr sz="22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700"/>
              <a:buNone/>
              <a:defRPr sz="2000"/>
            </a:lvl9pPr>
          </a:lstStyle>
          <a:p/>
        </p:txBody>
      </p:sp>
      <p:sp>
        <p:nvSpPr>
          <p:cNvPr id="23" name="Google Shape;23;p14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2" type="sldNum"/>
          </p:nvPr>
        </p:nvSpPr>
        <p:spPr>
          <a:xfrm>
            <a:off x="9592733" y="4289334"/>
            <a:ext cx="119386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ytuł i zawartość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5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5"/>
          <p:cNvSpPr txBox="1"/>
          <p:nvPr>
            <p:ph idx="1" type="body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30"/>
              <a:buChar char="▪"/>
              <a:defRPr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2pPr>
            <a:lvl3pPr indent="-325755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3pPr>
            <a:lvl4pPr indent="-325755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4pPr>
            <a:lvl5pPr indent="-325754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5pPr>
            <a:lvl6pPr indent="-325754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6pPr>
            <a:lvl7pPr indent="-325754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7pPr>
            <a:lvl8pPr indent="-325754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8pPr>
            <a:lvl9pPr indent="-325754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530"/>
              <a:buChar char="▪"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5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wa elementy zawartości" type="twoObj">
  <p:cSld name="TWO_OBJECT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6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6"/>
          <p:cNvSpPr txBox="1"/>
          <p:nvPr>
            <p:ph idx="1" type="body"/>
          </p:nvPr>
        </p:nvSpPr>
        <p:spPr>
          <a:xfrm>
            <a:off x="1069848" y="2194560"/>
            <a:ext cx="4754880" cy="3977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indent="-31496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indent="-31496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indent="-31496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indent="-31496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6pPr>
            <a:lvl7pPr indent="-31496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7pPr>
            <a:lvl8pPr indent="-314959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8pPr>
            <a:lvl9pPr indent="-314959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Char char="▪"/>
              <a:defRPr sz="1600"/>
            </a:lvl9pPr>
          </a:lstStyle>
          <a:p/>
        </p:txBody>
      </p:sp>
      <p:sp>
        <p:nvSpPr>
          <p:cNvPr id="35" name="Google Shape;35;p16"/>
          <p:cNvSpPr txBox="1"/>
          <p:nvPr>
            <p:ph idx="2" type="body"/>
          </p:nvPr>
        </p:nvSpPr>
        <p:spPr>
          <a:xfrm>
            <a:off x="6364224" y="2194560"/>
            <a:ext cx="4754880" cy="3977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indent="-31496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indent="-31496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indent="-31496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indent="-31496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6pPr>
            <a:lvl7pPr indent="-31496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7pPr>
            <a:lvl8pPr indent="-314959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8pPr>
            <a:lvl9pPr indent="-314959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Char char="▪"/>
              <a:defRPr sz="1600"/>
            </a:lvl9pPr>
          </a:lstStyle>
          <a:p/>
        </p:txBody>
      </p:sp>
      <p:sp>
        <p:nvSpPr>
          <p:cNvPr id="36" name="Google Shape;36;p16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6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główek sekcji" showMasterSp="0" type="secHead">
  <p:cSld name="SECTION_HEADER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7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rotWithShape="1">
            <a:blip r:embed="rId2">
              <a:alphaModFix amt="85000"/>
            </a:blip>
            <a:tile algn="ctr" flip="xy" tx="0" sx="92000" ty="-704850" sy="89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7"/>
          <p:cNvSpPr txBox="1"/>
          <p:nvPr>
            <p:ph type="title"/>
          </p:nvPr>
        </p:nvSpPr>
        <p:spPr>
          <a:xfrm>
            <a:off x="2167128" y="1225296"/>
            <a:ext cx="9281160" cy="3520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Rockwell"/>
              <a:buNone/>
              <a:defRPr b="0" sz="8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2165774" y="5020056"/>
            <a:ext cx="905256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3" name="Google Shape;43;p17"/>
          <p:cNvSpPr txBox="1"/>
          <p:nvPr>
            <p:ph idx="10" type="dt"/>
          </p:nvPr>
        </p:nvSpPr>
        <p:spPr>
          <a:xfrm>
            <a:off x="8593667" y="6272784"/>
            <a:ext cx="2644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7"/>
          <p:cNvSpPr txBox="1"/>
          <p:nvPr>
            <p:ph idx="11" type="ftr"/>
          </p:nvPr>
        </p:nvSpPr>
        <p:spPr>
          <a:xfrm>
            <a:off x="2182708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5" name="Google Shape;45;p1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46" name="Google Shape;46;p17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rotWithShape="1">
              <a:blip r:embed="rId3">
                <a:alphaModFix/>
              </a:blip>
              <a:tile algn="tl" flip="none" tx="0" sx="85000" ty="0" sy="85000"/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17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cap="flat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843702" y="2506133"/>
            <a:ext cx="1188298" cy="720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ównanie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" type="body"/>
          </p:nvPr>
        </p:nvSpPr>
        <p:spPr>
          <a:xfrm>
            <a:off x="1066800" y="2048256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  <a:defRPr b="1" sz="2000">
                <a:solidFill>
                  <a:srgbClr val="9E361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None/>
              <a:defRPr b="1" sz="1600"/>
            </a:lvl9pPr>
          </a:lstStyle>
          <a:p/>
        </p:txBody>
      </p:sp>
      <p:sp>
        <p:nvSpPr>
          <p:cNvPr id="52" name="Google Shape;52;p18"/>
          <p:cNvSpPr txBox="1"/>
          <p:nvPr>
            <p:ph idx="2" type="body"/>
          </p:nvPr>
        </p:nvSpPr>
        <p:spPr>
          <a:xfrm>
            <a:off x="1069848" y="2743200"/>
            <a:ext cx="475488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indent="-31496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indent="-31496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indent="-31496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indent="-31496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6pPr>
            <a:lvl7pPr indent="-31496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7pPr>
            <a:lvl8pPr indent="-314959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8pPr>
            <a:lvl9pPr indent="-314959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Char char="▪"/>
              <a:defRPr sz="1600"/>
            </a:lvl9pPr>
          </a:lstStyle>
          <a:p/>
        </p:txBody>
      </p:sp>
      <p:sp>
        <p:nvSpPr>
          <p:cNvPr id="53" name="Google Shape;53;p18"/>
          <p:cNvSpPr txBox="1"/>
          <p:nvPr>
            <p:ph idx="3" type="body"/>
          </p:nvPr>
        </p:nvSpPr>
        <p:spPr>
          <a:xfrm>
            <a:off x="6364224" y="2048256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  <a:defRPr b="1" sz="2000">
                <a:solidFill>
                  <a:srgbClr val="9E361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None/>
              <a:defRPr b="1" sz="1600"/>
            </a:lvl9pPr>
          </a:lstStyle>
          <a:p/>
        </p:txBody>
      </p:sp>
      <p:sp>
        <p:nvSpPr>
          <p:cNvPr id="54" name="Google Shape;54;p18"/>
          <p:cNvSpPr txBox="1"/>
          <p:nvPr>
            <p:ph idx="4" type="body"/>
          </p:nvPr>
        </p:nvSpPr>
        <p:spPr>
          <a:xfrm>
            <a:off x="6364224" y="2743200"/>
            <a:ext cx="475488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indent="-31496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indent="-31496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indent="-31496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indent="-31496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6pPr>
            <a:lvl7pPr indent="-31496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7pPr>
            <a:lvl8pPr indent="-314959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8pPr>
            <a:lvl9pPr indent="-314959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Char char="▪"/>
              <a:defRPr sz="1600"/>
            </a:lvl9pPr>
          </a:lstStyle>
          <a:p/>
        </p:txBody>
      </p:sp>
      <p:sp>
        <p:nvSpPr>
          <p:cNvPr id="55" name="Google Shape;55;p18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8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ylko tytuł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9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9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9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usty" type="blank">
  <p:cSld name="BLANK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0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0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awartość z podpisem" showMasterSp="0" type="objTx">
  <p:cSld name="OBJECT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1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rotWithShape="1">
            <a:blip r:embed="rId2">
              <a:alphaModFix amt="60000"/>
            </a:blip>
            <a:tile algn="ctr" flip="xy" tx="0" sx="92000" ty="-704850" sy="89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1"/>
          <p:cNvSpPr txBox="1"/>
          <p:nvPr>
            <p:ph type="title"/>
          </p:nvPr>
        </p:nvSpPr>
        <p:spPr>
          <a:xfrm>
            <a:off x="8549640" y="685800"/>
            <a:ext cx="32004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ckwell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>
            <a:off x="838200" y="685800"/>
            <a:ext cx="6711696" cy="5020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indent="-31496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indent="-31496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indent="-31496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indent="-31496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6pPr>
            <a:lvl7pPr indent="-31496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7pPr>
            <a:lvl8pPr indent="-314959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8pPr>
            <a:lvl9pPr indent="-314959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Char char="▪"/>
              <a:defRPr sz="1600"/>
            </a:lvl9pPr>
          </a:lstStyle>
          <a:p/>
        </p:txBody>
      </p:sp>
      <p:sp>
        <p:nvSpPr>
          <p:cNvPr id="71" name="Google Shape;71;p21"/>
          <p:cNvSpPr txBox="1"/>
          <p:nvPr>
            <p:ph idx="2" type="body"/>
          </p:nvPr>
        </p:nvSpPr>
        <p:spPr>
          <a:xfrm>
            <a:off x="8549640" y="2423160"/>
            <a:ext cx="32004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9E361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2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5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765"/>
              <a:buNone/>
              <a:defRPr sz="900"/>
            </a:lvl9pPr>
          </a:lstStyle>
          <a:p/>
        </p:txBody>
      </p:sp>
      <p:sp>
        <p:nvSpPr>
          <p:cNvPr id="72" name="Google Shape;72;p21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4" name="Google Shape;74;p21"/>
          <p:cNvGrpSpPr/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75" name="Google Shape;75;p21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rotWithShape="1">
              <a:blip r:embed="rId3">
                <a:alphaModFix/>
              </a:blip>
              <a:tile algn="tl" flip="none" tx="50800" sx="85000" ty="0" sy="85000"/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21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21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raz z podpisem" showMasterSp="0" type="picTx">
  <p:cSld name="PICTURE_WITH_CAPTIO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2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rotWithShape="1">
            <a:blip r:embed="rId2">
              <a:alphaModFix amt="60000"/>
            </a:blip>
            <a:tile algn="ctr" flip="xy" tx="0" sx="92000" ty="-704850" sy="89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22"/>
          <p:cNvSpPr txBox="1"/>
          <p:nvPr>
            <p:ph type="title"/>
          </p:nvPr>
        </p:nvSpPr>
        <p:spPr>
          <a:xfrm>
            <a:off x="8549640" y="685800"/>
            <a:ext cx="32004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ckwell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2"/>
          <p:cNvSpPr/>
          <p:nvPr>
            <p:ph idx="2" type="pic"/>
          </p:nvPr>
        </p:nvSpPr>
        <p:spPr>
          <a:xfrm>
            <a:off x="0" y="0"/>
            <a:ext cx="8303740" cy="6858000"/>
          </a:xfrm>
          <a:prstGeom prst="rect">
            <a:avLst/>
          </a:prstGeom>
          <a:solidFill>
            <a:srgbClr val="E1DFDF"/>
          </a:solidFill>
          <a:ln>
            <a:noFill/>
          </a:ln>
        </p:spPr>
      </p:sp>
      <p:sp>
        <p:nvSpPr>
          <p:cNvPr id="82" name="Google Shape;82;p22"/>
          <p:cNvSpPr txBox="1"/>
          <p:nvPr>
            <p:ph idx="1" type="body"/>
          </p:nvPr>
        </p:nvSpPr>
        <p:spPr>
          <a:xfrm>
            <a:off x="8549640" y="2423160"/>
            <a:ext cx="32004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9E361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2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5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765"/>
              <a:buNone/>
              <a:defRPr sz="900"/>
            </a:lvl9pPr>
          </a:lstStyle>
          <a:p/>
        </p:txBody>
      </p:sp>
      <p:sp>
        <p:nvSpPr>
          <p:cNvPr id="83" name="Google Shape;83;p22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84" name="Google Shape;84;p22"/>
          <p:cNvGrpSpPr/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5" name="Google Shape;85;p22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rotWithShape="1">
              <a:blip r:embed="rId3">
                <a:alphaModFix/>
              </a:blip>
              <a:tile algn="tl" flip="none" tx="50800" sx="85000" ty="0" sy="85000"/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22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7" name="Google Shape;87;p22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ytuł i tekst pionowy" type="vertTx">
  <p:cSld name="VERTICAL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3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3"/>
          <p:cNvSpPr txBox="1"/>
          <p:nvPr>
            <p:ph idx="1" type="body"/>
          </p:nvPr>
        </p:nvSpPr>
        <p:spPr>
          <a:xfrm rot="5400000">
            <a:off x="4073652" y="-882396"/>
            <a:ext cx="4050792" cy="100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30"/>
              <a:buChar char="▪"/>
              <a:defRPr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2pPr>
            <a:lvl3pPr indent="-325755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3pPr>
            <a:lvl4pPr indent="-325755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4pPr>
            <a:lvl5pPr indent="-325754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5pPr>
            <a:lvl6pPr indent="-325754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6pPr>
            <a:lvl7pPr indent="-325754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7pPr>
            <a:lvl8pPr indent="-325754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8pPr>
            <a:lvl9pPr indent="-325754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530"/>
              <a:buChar char="▪"/>
              <a:defRPr/>
            </a:lvl9pPr>
          </a:lstStyle>
          <a:p/>
        </p:txBody>
      </p:sp>
      <p:sp>
        <p:nvSpPr>
          <p:cNvPr id="91" name="Google Shape;91;p23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3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ytuł pionowy i tekst" type="vertTitleAndTx">
  <p:cSld name="VERTICAL_TITLE_AND_VERTICAL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4"/>
          <p:cNvSpPr txBox="1"/>
          <p:nvPr>
            <p:ph type="title"/>
          </p:nvPr>
        </p:nvSpPr>
        <p:spPr>
          <a:xfrm rot="5400000">
            <a:off x="7181850" y="2076450"/>
            <a:ext cx="5638800" cy="25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4"/>
          <p:cNvSpPr txBox="1"/>
          <p:nvPr>
            <p:ph idx="1" type="body"/>
          </p:nvPr>
        </p:nvSpPr>
        <p:spPr>
          <a:xfrm rot="5400000">
            <a:off x="2000250" y="-400050"/>
            <a:ext cx="5638800" cy="75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30"/>
              <a:buChar char="▪"/>
              <a:defRPr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2pPr>
            <a:lvl3pPr indent="-325755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3pPr>
            <a:lvl4pPr indent="-325755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4pPr>
            <a:lvl5pPr indent="-325754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5pPr>
            <a:lvl6pPr indent="-325754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6pPr>
            <a:lvl7pPr indent="-325754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7pPr>
            <a:lvl8pPr indent="-325754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8pPr>
            <a:lvl9pPr indent="-325754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530"/>
              <a:buChar char="▪"/>
              <a:defRPr/>
            </a:lvl9pPr>
          </a:lstStyle>
          <a:p/>
        </p:txBody>
      </p:sp>
      <p:sp>
        <p:nvSpPr>
          <p:cNvPr id="97" name="Google Shape;97;p24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4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4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  <a:defRPr b="0" i="0" sz="5400" u="none" cap="none" strike="noStrike">
                <a:latin typeface="Rockwell"/>
                <a:ea typeface="Rockwell"/>
                <a:cs typeface="Rockwell"/>
                <a:sym typeface="Rockwel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-325755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-31496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-31496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-31496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-31496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-31496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-314959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-314959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2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2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/>
        </p:txBody>
      </p:sp>
      <p:grpSp>
        <p:nvGrpSpPr>
          <p:cNvPr id="10" name="Google Shape;10;p13"/>
          <p:cNvGrpSpPr/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1" name="Google Shape;11;p13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rotWithShape="1">
              <a:blip r:embed="rId1">
                <a:alphaModFix/>
              </a:blip>
              <a:tile algn="tl" flip="none" tx="50800" sx="85000" ty="0" sy="85000"/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13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" name="Google Shape;13;p13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40" Type="http://schemas.openxmlformats.org/officeDocument/2006/relationships/hyperlink" Target="https://kwadryga.com/kategoria-produktu/polecane/" TargetMode="External"/><Relationship Id="rId20" Type="http://schemas.openxmlformats.org/officeDocument/2006/relationships/hyperlink" Target="https://kwadryga.com/kategoria-produktu/ksiazki/ksiazki-xix-w/" TargetMode="External"/><Relationship Id="rId42" Type="http://schemas.openxmlformats.org/officeDocument/2006/relationships/hyperlink" Target="https://kwadryga.com/wp-content/uploads/2020/06/img489.jpg" TargetMode="External"/><Relationship Id="rId41" Type="http://schemas.openxmlformats.org/officeDocument/2006/relationships/hyperlink" Target="https://kwadryga.com/produkt/wenecki-teatr-modny/" TargetMode="External"/><Relationship Id="rId22" Type="http://schemas.openxmlformats.org/officeDocument/2006/relationships/hyperlink" Target="https://kwadryga.com/kategoria-produktu/ksiazki/ksiazki-przedwojenne/" TargetMode="External"/><Relationship Id="rId44" Type="http://schemas.openxmlformats.org/officeDocument/2006/relationships/image" Target="../media/image8.jpg"/><Relationship Id="rId21" Type="http://schemas.openxmlformats.org/officeDocument/2006/relationships/hyperlink" Target="https://kwadryga.com/kategoria-produktu/ksiazki/ksiazki-dla-dzieci/" TargetMode="External"/><Relationship Id="rId43" Type="http://schemas.openxmlformats.org/officeDocument/2006/relationships/hyperlink" Target="https://kwadryga.com/wp-content/uploads/2020/06/img489.jpg" TargetMode="External"/><Relationship Id="rId24" Type="http://schemas.openxmlformats.org/officeDocument/2006/relationships/hyperlink" Target="https://kwadryga.com/kategoria-produktu/ksiazki/nauki-humanistyczne/" TargetMode="External"/><Relationship Id="rId23" Type="http://schemas.openxmlformats.org/officeDocument/2006/relationships/hyperlink" Target="https://kwadryga.com/kategoria-produktu/ksiazki/literatura-piekna-ksiazki/" TargetMode="Externa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kwadryga.com/jak-kupowac/" TargetMode="External"/><Relationship Id="rId4" Type="http://schemas.openxmlformats.org/officeDocument/2006/relationships/hyperlink" Target="https://kwadryga.com/skup-ksiazek/" TargetMode="External"/><Relationship Id="rId9" Type="http://schemas.openxmlformats.org/officeDocument/2006/relationships/hyperlink" Target="https://kwadryga.com/kategoria-produktu/autografy/" TargetMode="External"/><Relationship Id="rId26" Type="http://schemas.openxmlformats.org/officeDocument/2006/relationships/hyperlink" Target="https://kwadryga.com/kategoria-produktu/ksiazki/satyra-humor/" TargetMode="External"/><Relationship Id="rId25" Type="http://schemas.openxmlformats.org/officeDocument/2006/relationships/hyperlink" Target="https://kwadryga.com/kategoria-produktu/ksiazki/poezja/" TargetMode="External"/><Relationship Id="rId28" Type="http://schemas.openxmlformats.org/officeDocument/2006/relationships/hyperlink" Target="https://kwadryga.com/kategoria-produktu/ksiazki/sztuka/" TargetMode="External"/><Relationship Id="rId27" Type="http://schemas.openxmlformats.org/officeDocument/2006/relationships/hyperlink" Target="https://kwadryga.com/kategoria-produktu/ksiazki/slowniki-i-encyklopedie/" TargetMode="External"/><Relationship Id="rId5" Type="http://schemas.openxmlformats.org/officeDocument/2006/relationships/hyperlink" Target="https://kwadryga.com/blog/" TargetMode="External"/><Relationship Id="rId6" Type="http://schemas.openxmlformats.org/officeDocument/2006/relationships/hyperlink" Target="https://kwadryga.com/kontakt/" TargetMode="External"/><Relationship Id="rId29" Type="http://schemas.openxmlformats.org/officeDocument/2006/relationships/hyperlink" Target="https://kwadryga.com/kategoria-produktu/ksiazki/sztuka/architektura/" TargetMode="External"/><Relationship Id="rId7" Type="http://schemas.openxmlformats.org/officeDocument/2006/relationships/hyperlink" Target="https://kwadryga.com/aukcje/" TargetMode="External"/><Relationship Id="rId8" Type="http://schemas.openxmlformats.org/officeDocument/2006/relationships/hyperlink" Target="https://allegro.pl/uzytkownik/nimala" TargetMode="External"/><Relationship Id="rId31" Type="http://schemas.openxmlformats.org/officeDocument/2006/relationships/hyperlink" Target="https://kwadryga.com/kategoria-produktu/ksiazki/sztuka/historia-i-teoria-sztuki/" TargetMode="External"/><Relationship Id="rId30" Type="http://schemas.openxmlformats.org/officeDocument/2006/relationships/hyperlink" Target="https://kwadryga.com/kategoria-produktu/ksiazki/sztuka/film/" TargetMode="External"/><Relationship Id="rId11" Type="http://schemas.openxmlformats.org/officeDocument/2006/relationships/hyperlink" Target="https://kwadryga.com/kategoria-produktu/dokumenty-kolekcjonerskie/" TargetMode="External"/><Relationship Id="rId33" Type="http://schemas.openxmlformats.org/officeDocument/2006/relationships/hyperlink" Target="https://kwadryga.com/kategoria-produktu/ksiazki/sztuka/muzyka/" TargetMode="External"/><Relationship Id="rId10" Type="http://schemas.openxmlformats.org/officeDocument/2006/relationships/hyperlink" Target="https://kwadryga.com/kategoria-produktu/stare-czasopisma/" TargetMode="External"/><Relationship Id="rId32" Type="http://schemas.openxmlformats.org/officeDocument/2006/relationships/hyperlink" Target="https://kwadryga.com/kategoria-produktu/ksiazki/sztuka/malarstwo-grafika-rzezba/" TargetMode="External"/><Relationship Id="rId13" Type="http://schemas.openxmlformats.org/officeDocument/2006/relationships/hyperlink" Target="https://kwadryga.com/kategoria-produktu/ksiazki/" TargetMode="External"/><Relationship Id="rId35" Type="http://schemas.openxmlformats.org/officeDocument/2006/relationships/hyperlink" Target="https://kwadryga.com/kategoria-produktu/ksiazki/sztuka/teatr/" TargetMode="External"/><Relationship Id="rId12" Type="http://schemas.openxmlformats.org/officeDocument/2006/relationships/hyperlink" Target="https://kwadryga.com/kategoria-produktu/grafika-i-plakat/" TargetMode="External"/><Relationship Id="rId34" Type="http://schemas.openxmlformats.org/officeDocument/2006/relationships/hyperlink" Target="https://kwadryga.com/kategoria-produktu/ksiazki/sztuka/sztuka-uzytkowa/" TargetMode="External"/><Relationship Id="rId15" Type="http://schemas.openxmlformats.org/officeDocument/2006/relationships/hyperlink" Target="https://kwadryga.com/kategoria-produktu/ksiazki/harcerstwo/" TargetMode="External"/><Relationship Id="rId37" Type="http://schemas.openxmlformats.org/officeDocument/2006/relationships/hyperlink" Target="https://kwadryga.com/kategoria-produktu/mapy-i-kartografia/" TargetMode="External"/><Relationship Id="rId14" Type="http://schemas.openxmlformats.org/officeDocument/2006/relationships/hyperlink" Target="https://kwadryga.com/kategoria-produktu/ksiazki/biografie-wspomnienia-listy/" TargetMode="External"/><Relationship Id="rId36" Type="http://schemas.openxmlformats.org/officeDocument/2006/relationships/hyperlink" Target="https://kwadryga.com/kategoria-produktu/ksiazki/varsaviana/" TargetMode="External"/><Relationship Id="rId17" Type="http://schemas.openxmlformats.org/officeDocument/2006/relationships/hyperlink" Target="https://kwadryga.com/kategoria-produktu/ksiazki/hobby/" TargetMode="External"/><Relationship Id="rId39" Type="http://schemas.openxmlformats.org/officeDocument/2006/relationships/hyperlink" Target="https://kwadryga.com/kategoria-produktu/stare-pocztowki-fotografie/" TargetMode="External"/><Relationship Id="rId16" Type="http://schemas.openxmlformats.org/officeDocument/2006/relationships/hyperlink" Target="https://kwadryga.com/kategoria-produktu/ksiazki/historia/" TargetMode="External"/><Relationship Id="rId38" Type="http://schemas.openxmlformats.org/officeDocument/2006/relationships/hyperlink" Target="https://kwadryga.com/kategoria-produktu/nowosci/" TargetMode="External"/><Relationship Id="rId19" Type="http://schemas.openxmlformats.org/officeDocument/2006/relationships/hyperlink" Target="https://kwadryga.com/kategoria-produktu/ksiazki/ii-wojna-swiatowa/" TargetMode="External"/><Relationship Id="rId18" Type="http://schemas.openxmlformats.org/officeDocument/2006/relationships/hyperlink" Target="https://kwadryga.com/kategoria-produktu/ksiazki/i-wojna-swiatowa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www.youtube.com/watch?v=6HgDwBmGoKU" TargetMode="External"/><Relationship Id="rId4" Type="http://schemas.openxmlformats.org/officeDocument/2006/relationships/hyperlink" Target="https://www.youtube.com/watch?v=-_I0yVAuk_s" TargetMode="External"/><Relationship Id="rId5" Type="http://schemas.openxmlformats.org/officeDocument/2006/relationships/hyperlink" Target="https://www.youtube.com/watch?v=o4gVQcAxLg4" TargetMode="External"/><Relationship Id="rId6" Type="http://schemas.openxmlformats.org/officeDocument/2006/relationships/hyperlink" Target="https://www.youtube.com/watch?v=5nbBr3G_xxE" TargetMode="External"/><Relationship Id="rId7" Type="http://schemas.openxmlformats.org/officeDocument/2006/relationships/hyperlink" Target="https://www.youtube.com/watch?v=NAz7EOkAHbY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"/>
          <p:cNvSpPr txBox="1"/>
          <p:nvPr>
            <p:ph type="ctrTitle"/>
          </p:nvPr>
        </p:nvSpPr>
        <p:spPr>
          <a:xfrm>
            <a:off x="1051560" y="2468881"/>
            <a:ext cx="9966960" cy="1999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600"/>
              <a:buFont typeface="Rockwell"/>
              <a:buNone/>
            </a:pPr>
            <a:r>
              <a:rPr lang="pl-PL"/>
              <a:t>OPERA WENECKA</a:t>
            </a:r>
            <a:br>
              <a:rPr lang="pl-PL"/>
            </a:br>
            <a:r>
              <a:rPr lang="pl-PL"/>
              <a:t>(OD 1637)</a:t>
            </a:r>
            <a:br>
              <a:rPr lang="pl-PL"/>
            </a:br>
            <a:endParaRPr/>
          </a:p>
        </p:txBody>
      </p:sp>
      <p:sp>
        <p:nvSpPr>
          <p:cNvPr id="105" name="Google Shape;105;p1"/>
          <p:cNvSpPr txBox="1"/>
          <p:nvPr>
            <p:ph idx="1" type="subTitle"/>
          </p:nvPr>
        </p:nvSpPr>
        <p:spPr>
          <a:xfrm>
            <a:off x="1069848" y="4389119"/>
            <a:ext cx="7891272" cy="1771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7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"/>
          <p:cNvSpPr txBox="1"/>
          <p:nvPr>
            <p:ph type="title"/>
          </p:nvPr>
        </p:nvSpPr>
        <p:spPr>
          <a:xfrm>
            <a:off x="6415790" y="484632"/>
            <a:ext cx="4712458" cy="8494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ckwell"/>
              <a:buNone/>
            </a:pPr>
            <a:br>
              <a:rPr lang="pl-PL"/>
            </a:br>
            <a:endParaRPr/>
          </a:p>
        </p:txBody>
      </p:sp>
      <p:sp>
        <p:nvSpPr>
          <p:cNvPr id="111" name="Google Shape;111;p2"/>
          <p:cNvSpPr txBox="1"/>
          <p:nvPr>
            <p:ph idx="1" type="body"/>
          </p:nvPr>
        </p:nvSpPr>
        <p:spPr>
          <a:xfrm>
            <a:off x="6096000" y="989354"/>
            <a:ext cx="5032248" cy="51828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9431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60"/>
              <a:buChar char="▪"/>
            </a:pPr>
            <a:r>
              <a:rPr lang="pl-PL" sz="3600"/>
              <a:t>Praca oparta na źródłach z epoki</a:t>
            </a:r>
            <a:endParaRPr/>
          </a:p>
          <a:p>
            <a:pPr indent="-19431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3060"/>
              <a:buChar char="▪"/>
            </a:pPr>
            <a:r>
              <a:rPr lang="pl-PL" sz="3600"/>
              <a:t>Ukazująca środowisko twórców i wykonawców oper, opinie współczesnych oraz rozmaite konteksty funkcjonowania teatrów operowych</a:t>
            </a:r>
            <a:endParaRPr/>
          </a:p>
        </p:txBody>
      </p:sp>
      <p:sp>
        <p:nvSpPr>
          <p:cNvPr id="112" name="Google Shape;112;p2"/>
          <p:cNvSpPr/>
          <p:nvPr/>
        </p:nvSpPr>
        <p:spPr>
          <a:xfrm>
            <a:off x="0" y="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l-P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Katalog</a:t>
            </a:r>
            <a:endParaRPr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l-PL" sz="12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Jak kupować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l-PL" sz="12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Skup książek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l-PL" sz="12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Blog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l-PL" sz="12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Kontakt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l-PL" sz="12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Aukcje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l-PL" sz="12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Aukcje Allegro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pl-P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0,00 zł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PT Serif"/>
              <a:buNone/>
            </a:pPr>
            <a:r>
              <a:rPr b="0" i="0" lang="pl-PL" sz="1300" u="none" cap="none" strike="noStrike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KATEGORIE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35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pl-PL" sz="1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Autografy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35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pl-PL" sz="1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Czasopisma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35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pl-PL" sz="1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Druki ulotne, dokumenty, reklama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35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pl-PL" sz="1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Grafika i plakat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35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pl-PL" sz="1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Książki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35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pl-PL" sz="1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1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Biografie, wspomnienia, listy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35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pl-PL" sz="1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1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Harcerstwo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35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pl-PL" sz="1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1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Historia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35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pl-PL" sz="1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1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Hobby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35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pl-PL" sz="1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1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 wojna światowa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35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pl-PL" sz="1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1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II wojna światowa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35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pl-PL" sz="1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2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Książki - XIX w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35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pl-PL" sz="1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2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Książki dla dzieci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35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pl-PL" sz="1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2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Książki przedwojenne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35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pl-PL" sz="1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2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Literatura piękna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35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pl-PL" sz="1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2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Nauki humanistyczne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35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pl-PL" sz="1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2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Poezja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35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pl-PL" sz="1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2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Satyra-humor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35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pl-PL" sz="1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2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Słowniki i encyklopedie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35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pl-PL" sz="1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2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Sztuka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350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pl-PL" sz="1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2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Architektura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350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pl-PL" sz="1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3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Film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350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pl-PL" sz="1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3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Historia i teoria sztuki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350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pl-PL" sz="1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3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Malarstwo, grafika, rzeźba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350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pl-PL" sz="1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3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Muzyka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350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pl-PL" sz="1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3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Sztuka użytkowa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350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pl-PL" sz="1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3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Teatr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35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pl-PL" sz="1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3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Varsaviana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35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pl-PL" sz="1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3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Mapy i kartografia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35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pl-PL" sz="1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3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Nowości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35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pl-PL" sz="1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3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Pocztówki i fotografie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35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pl-PL" sz="1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4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Polecane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l-PL" sz="2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4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🔍</a:t>
            </a:r>
            <a:endParaRPr b="0" i="0" sz="1000" u="none" cap="none" strike="noStrike">
              <a:solidFill>
                <a:srgbClr val="000000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T Sans"/>
              <a:buNone/>
            </a:pPr>
            <a:r>
              <a:rPr b="0" i="0" lang="pl-PL" sz="1000" u="sng" cap="none" strike="noStrike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  <a:hlinkClick r:id="rId4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 </a:t>
            </a:r>
            <a:r>
              <a:rPr b="0" i="0" lang="pl-PL" sz="31900" u="none" cap="none" strike="noStrike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 </a:t>
            </a:r>
            <a:r>
              <a:rPr b="0" i="0" lang="pl-PL" sz="1000" u="none" cap="none" strike="noStrike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                                                </a:t>
            </a:r>
            <a:endParaRPr/>
          </a:p>
        </p:txBody>
      </p:sp>
      <p:pic>
        <p:nvPicPr>
          <p:cNvPr descr="WENECKI TEATR MODNY" id="113" name="Google Shape;113;p2">
            <a:hlinkClick r:id="rId43"/>
          </p:cNvPr>
          <p:cNvPicPr preferRelativeResize="0"/>
          <p:nvPr/>
        </p:nvPicPr>
        <p:blipFill rotWithShape="1">
          <a:blip r:embed="rId44">
            <a:alphaModFix/>
          </a:blip>
          <a:srcRect b="0" l="0" r="0" t="0"/>
          <a:stretch/>
        </p:blipFill>
        <p:spPr>
          <a:xfrm>
            <a:off x="644578" y="434715"/>
            <a:ext cx="4856812" cy="59885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pl-PL"/>
              <a:t>RZYM – SZKOŁY ŚPIEWACZE</a:t>
            </a:r>
            <a:endParaRPr/>
          </a:p>
        </p:txBody>
      </p:sp>
      <p:sp>
        <p:nvSpPr>
          <p:cNvPr id="119" name="Google Shape;119;p3"/>
          <p:cNvSpPr txBox="1"/>
          <p:nvPr>
            <p:ph idx="1" type="body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20"/>
              <a:buChar char="▪"/>
            </a:pPr>
            <a:r>
              <a:rPr lang="pl-PL" sz="3200"/>
              <a:t>Tylko mężczyźni (także kastraci)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720"/>
              <a:buChar char="▪"/>
            </a:pPr>
            <a:r>
              <a:rPr lang="pl-PL" sz="3200"/>
              <a:t>Śpiewacy dołączają do trup muzyczno-teatralnych (na wzór commedia dell’arte)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720"/>
              <a:buChar char="▪"/>
            </a:pPr>
            <a:r>
              <a:rPr lang="pl-PL" sz="3200"/>
              <a:t>1644-1655 zamknięcie teatrów rzymskich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pl-PL"/>
              <a:t>PIERWSZA OPERA WYSTAWIONA W WENECJI</a:t>
            </a:r>
            <a:endParaRPr/>
          </a:p>
        </p:txBody>
      </p:sp>
      <p:sp>
        <p:nvSpPr>
          <p:cNvPr id="125" name="Google Shape;125;p4"/>
          <p:cNvSpPr txBox="1"/>
          <p:nvPr>
            <p:ph idx="1" type="body"/>
          </p:nvPr>
        </p:nvSpPr>
        <p:spPr>
          <a:xfrm>
            <a:off x="1069848" y="2194560"/>
            <a:ext cx="4754880" cy="3977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183515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85000"/>
              <a:buChar char="▪"/>
            </a:pPr>
            <a:r>
              <a:rPr lang="pl-PL" sz="4000"/>
              <a:t>1637, </a:t>
            </a:r>
            <a:r>
              <a:rPr i="1" lang="pl-PL" sz="4000"/>
              <a:t>Andromeda</a:t>
            </a:r>
            <a:r>
              <a:rPr lang="pl-PL" sz="4000"/>
              <a:t> wystawiona w teatrze San Cassiano przez trupę Benedetto Ferrariego i Francesca Manellego (kompozytor, śpiewak)</a:t>
            </a:r>
            <a:endParaRPr/>
          </a:p>
        </p:txBody>
      </p:sp>
      <p:pic>
        <p:nvPicPr>
          <p:cNvPr id="126" name="Google Shape;126;p4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52431" y="1579419"/>
            <a:ext cx="4369721" cy="45927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"/>
          <p:cNvSpPr txBox="1"/>
          <p:nvPr>
            <p:ph type="title"/>
          </p:nvPr>
        </p:nvSpPr>
        <p:spPr>
          <a:xfrm>
            <a:off x="1069850" y="484626"/>
            <a:ext cx="10058400" cy="135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ckwell"/>
              <a:buNone/>
            </a:pPr>
            <a:r>
              <a:rPr lang="pl-PL"/>
              <a:t>OPERA – PRZEDSIĘWZIĘCIE O CHARAKTERZE MERKANTYLNYM</a:t>
            </a:r>
            <a:endParaRPr/>
          </a:p>
        </p:txBody>
      </p:sp>
      <p:sp>
        <p:nvSpPr>
          <p:cNvPr id="132" name="Google Shape;132;p5"/>
          <p:cNvSpPr txBox="1"/>
          <p:nvPr>
            <p:ph idx="1" type="body"/>
          </p:nvPr>
        </p:nvSpPr>
        <p:spPr>
          <a:xfrm>
            <a:off x="1069848" y="2121408"/>
            <a:ext cx="10058400" cy="4251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80"/>
              <a:buNone/>
            </a:pPr>
            <a:r>
              <a:rPr lang="pl-PL" sz="2800"/>
              <a:t>Właściciel teatru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380"/>
              <a:buNone/>
            </a:pPr>
            <a:r>
              <a:t/>
            </a:r>
            <a:endParaRPr sz="2800"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380"/>
              <a:buNone/>
            </a:pPr>
            <a:r>
              <a:t/>
            </a:r>
            <a:endParaRPr sz="2800"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380"/>
              <a:buNone/>
            </a:pPr>
            <a:r>
              <a:rPr lang="pl-PL" sz="2800"/>
              <a:t>Impresario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380"/>
              <a:buNone/>
            </a:pPr>
            <a:r>
              <a:t/>
            </a:r>
            <a:endParaRPr sz="2800"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380"/>
              <a:buNone/>
            </a:pPr>
            <a:r>
              <a:t/>
            </a:r>
            <a:endParaRPr sz="2800"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380"/>
              <a:buNone/>
            </a:pPr>
            <a:r>
              <a:rPr lang="pl-PL" sz="2800"/>
              <a:t>Twórcy i wykonawcy</a:t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 rot="5400000">
            <a:off x="1489647" y="2678225"/>
            <a:ext cx="1008089" cy="764498"/>
          </a:xfrm>
          <a:prstGeom prst="rightArrow">
            <a:avLst>
              <a:gd fmla="val 50000" name="adj1"/>
              <a:gd fmla="val 69608" name="adj2"/>
            </a:avLst>
          </a:prstGeom>
          <a:solidFill>
            <a:schemeClr val="accent1"/>
          </a:solidFill>
          <a:ln cap="flat" cmpd="sng" w="12700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134" name="Google Shape;134;p5"/>
          <p:cNvSpPr/>
          <p:nvPr/>
        </p:nvSpPr>
        <p:spPr>
          <a:xfrm rot="5400000">
            <a:off x="1420168" y="4410710"/>
            <a:ext cx="1147047" cy="764498"/>
          </a:xfrm>
          <a:prstGeom prst="rightArrow">
            <a:avLst>
              <a:gd fmla="val 50000" name="adj1"/>
              <a:gd fmla="val 69608" name="adj2"/>
            </a:avLst>
          </a:prstGeom>
          <a:solidFill>
            <a:schemeClr val="accent1"/>
          </a:solidFill>
          <a:ln cap="flat" cmpd="sng" w="12700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pl-PL"/>
              <a:t>1637-1645 – CZTERY BUDYNKI PRZEKSZTAŁCONE W TEATRY OPEROWE</a:t>
            </a:r>
            <a:endParaRPr/>
          </a:p>
        </p:txBody>
      </p:sp>
      <p:pic>
        <p:nvPicPr>
          <p:cNvPr id="140" name="Google Shape;140;p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0444" y="2120900"/>
            <a:ext cx="5614381" cy="473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"/>
          <p:cNvSpPr txBox="1"/>
          <p:nvPr>
            <p:ph type="title"/>
          </p:nvPr>
        </p:nvSpPr>
        <p:spPr>
          <a:xfrm>
            <a:off x="1069848" y="484631"/>
            <a:ext cx="10058400" cy="40541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pl-PL"/>
              <a:t>PUBLICZNOŚĆ ELITARNA, KOMPETENTNA – OTWARTA NA EKPSRYMENT</a:t>
            </a:r>
            <a:br>
              <a:rPr lang="pl-PL"/>
            </a:br>
            <a:r>
              <a:rPr lang="pl-PL"/>
              <a:t>PUBLICZNOŚĆ MASOWA – WOLI KOKNWENCJĘ</a:t>
            </a:r>
            <a:endParaRPr/>
          </a:p>
        </p:txBody>
      </p:sp>
      <p:sp>
        <p:nvSpPr>
          <p:cNvPr id="146" name="Google Shape;146;p7"/>
          <p:cNvSpPr txBox="1"/>
          <p:nvPr>
            <p:ph idx="1" type="body"/>
          </p:nvPr>
        </p:nvSpPr>
        <p:spPr>
          <a:xfrm>
            <a:off x="1069848" y="4904509"/>
            <a:ext cx="10058400" cy="12676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4929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pl-PL"/>
              <a:t>ACCADEMIA DELLI INCOGNITI</a:t>
            </a:r>
            <a:endParaRPr/>
          </a:p>
        </p:txBody>
      </p:sp>
      <p:sp>
        <p:nvSpPr>
          <p:cNvPr id="152" name="Google Shape;152;p8"/>
          <p:cNvSpPr txBox="1"/>
          <p:nvPr>
            <p:ph idx="1" type="body"/>
          </p:nvPr>
        </p:nvSpPr>
        <p:spPr>
          <a:xfrm>
            <a:off x="1069848" y="2093976"/>
            <a:ext cx="10058400" cy="40782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pl-PL" sz="4000"/>
              <a:t>Libreciści</a:t>
            </a:r>
            <a:endParaRPr/>
          </a:p>
          <a:p>
            <a:pPr indent="-21590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3400"/>
              <a:buChar char="▪"/>
            </a:pPr>
            <a:r>
              <a:rPr lang="pl-PL" sz="4000"/>
              <a:t>Giacomo Badoaro (Il ritorno d’Ulisse in patria)</a:t>
            </a:r>
            <a:endParaRPr/>
          </a:p>
          <a:p>
            <a:pPr indent="-21590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3400"/>
              <a:buChar char="▪"/>
            </a:pPr>
            <a:r>
              <a:rPr lang="pl-PL" sz="4000"/>
              <a:t>Francesco Busenello (L’incoronazzione di Poppea)</a:t>
            </a:r>
            <a:endParaRPr/>
          </a:p>
          <a:p>
            <a:pPr indent="-21590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3400"/>
              <a:buChar char="▪"/>
            </a:pPr>
            <a:r>
              <a:rPr lang="pl-PL" sz="4000"/>
              <a:t>Giulio Strozzi (La finta pazza Licori)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9"/>
          <p:cNvSpPr txBox="1"/>
          <p:nvPr>
            <p:ph type="title"/>
          </p:nvPr>
        </p:nvSpPr>
        <p:spPr>
          <a:xfrm>
            <a:off x="1069848" y="484632"/>
            <a:ext cx="10058400" cy="1394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ckwell"/>
              <a:buNone/>
            </a:pPr>
            <a:r>
              <a:rPr lang="pl-PL"/>
              <a:t>KOMPOZYTORZY:</a:t>
            </a:r>
            <a:br>
              <a:rPr lang="pl-PL"/>
            </a:br>
            <a:endParaRPr/>
          </a:p>
        </p:txBody>
      </p:sp>
      <p:sp>
        <p:nvSpPr>
          <p:cNvPr id="158" name="Google Shape;158;p9"/>
          <p:cNvSpPr txBox="1"/>
          <p:nvPr>
            <p:ph idx="1" type="body"/>
          </p:nvPr>
        </p:nvSpPr>
        <p:spPr>
          <a:xfrm>
            <a:off x="1069848" y="1429789"/>
            <a:ext cx="10058400" cy="4742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9431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60"/>
              <a:buChar char="▪"/>
            </a:pPr>
            <a:r>
              <a:rPr lang="pl-PL" sz="3600"/>
              <a:t>Claudio Monteverdi (Powrót Ulissesa, Koronacja Poppei)</a:t>
            </a:r>
            <a:endParaRPr/>
          </a:p>
          <a:p>
            <a:pPr indent="-19431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3060"/>
              <a:buChar char="▪"/>
            </a:pPr>
            <a:r>
              <a:rPr lang="pl-PL" sz="3600"/>
              <a:t>Francesco Cavalli</a:t>
            </a:r>
            <a:endParaRPr sz="3600"/>
          </a:p>
          <a:p>
            <a:pPr indent="-19431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3060"/>
              <a:buChar char="▪"/>
            </a:pPr>
            <a:r>
              <a:rPr lang="pl-PL" sz="3600"/>
              <a:t>(Pietro) Antonio Cesti</a:t>
            </a:r>
            <a:endParaRPr sz="3600"/>
          </a:p>
          <a:p>
            <a:pPr indent="-19431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3060"/>
              <a:buChar char="▪"/>
            </a:pPr>
            <a:r>
              <a:rPr lang="pl-PL" sz="3600"/>
              <a:t>Giovanni Legrenzi</a:t>
            </a:r>
            <a:endParaRPr/>
          </a:p>
          <a:p>
            <a:pPr indent="-19431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3060"/>
              <a:buChar char="▪"/>
            </a:pPr>
            <a:r>
              <a:rPr lang="pl-PL" sz="3600"/>
              <a:t>Alessandro Stradella</a:t>
            </a:r>
            <a:endParaRPr/>
          </a:p>
          <a:p>
            <a:pPr indent="-19431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3060"/>
              <a:buChar char="▪"/>
            </a:pPr>
            <a:r>
              <a:rPr lang="pl-PL" sz="3600"/>
              <a:t>Carlo Pallavicino</a:t>
            </a:r>
            <a:endParaRPr sz="3600"/>
          </a:p>
          <a:p>
            <a:pPr indent="-74929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pl-PL"/>
              <a:t>ELEMENTY KONWENCJONALNE:</a:t>
            </a:r>
            <a:endParaRPr/>
          </a:p>
        </p:txBody>
      </p:sp>
      <p:sp>
        <p:nvSpPr>
          <p:cNvPr id="164" name="Google Shape;164;p10"/>
          <p:cNvSpPr txBox="1"/>
          <p:nvPr>
            <p:ph idx="1" type="body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18288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80"/>
              <a:buChar char="▪"/>
            </a:pPr>
            <a:r>
              <a:rPr lang="pl-PL" sz="2800"/>
              <a:t>Lament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380"/>
              <a:buChar char="▪"/>
            </a:pPr>
            <a:r>
              <a:rPr lang="pl-PL" sz="2800"/>
              <a:t>duet miłosny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380"/>
              <a:buChar char="▪"/>
            </a:pPr>
            <a:r>
              <a:rPr lang="pl-PL" sz="2800"/>
              <a:t>Scena ombra</a:t>
            </a:r>
            <a:endParaRPr sz="2800"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380"/>
              <a:buChar char="▪"/>
            </a:pPr>
            <a:r>
              <a:rPr lang="pl-PL" sz="2800"/>
              <a:t>In travesti</a:t>
            </a:r>
            <a:endParaRPr sz="2800"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380"/>
              <a:buChar char="▪"/>
            </a:pPr>
            <a:r>
              <a:rPr lang="pl-PL" sz="2800"/>
              <a:t>Komiczna aria parlandowa</a:t>
            </a:r>
            <a:endParaRPr sz="2800"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380"/>
              <a:buChar char="▪"/>
            </a:pPr>
            <a:r>
              <a:rPr lang="pl-PL" sz="2800"/>
              <a:t>Prosta quasi-ludowa piosenka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380"/>
              <a:buChar char="▪"/>
            </a:pPr>
            <a:r>
              <a:rPr lang="pl-PL" sz="2800"/>
              <a:t>Postać starej kobiety (piastunki, służącej) grana przez tenora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1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pl-PL"/>
              <a:t>DWA TYPY POSTACI</a:t>
            </a:r>
            <a:endParaRPr/>
          </a:p>
        </p:txBody>
      </p:sp>
      <p:sp>
        <p:nvSpPr>
          <p:cNvPr id="170" name="Google Shape;170;p11"/>
          <p:cNvSpPr txBox="1"/>
          <p:nvPr>
            <p:ph idx="1" type="body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9431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60"/>
              <a:buChar char="▪"/>
            </a:pPr>
            <a:r>
              <a:rPr lang="pl-PL" sz="3600"/>
              <a:t>Pierwszoplanowe: głównie recytatywy i arioso, język wysoki</a:t>
            </a:r>
            <a:endParaRPr/>
          </a:p>
          <a:p>
            <a:pPr indent="-19431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3060"/>
              <a:buChar char="▪"/>
            </a:pPr>
            <a:r>
              <a:rPr lang="pl-PL" sz="3600"/>
              <a:t>Postaci drugoplanowe: arie, arietty, piosenki, język weneto (lokalny dialekt)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2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pl-PL"/>
              <a:t>KORONACJA POPPEI - TRAGIKOMEDIA</a:t>
            </a:r>
            <a:endParaRPr/>
          </a:p>
        </p:txBody>
      </p:sp>
      <p:sp>
        <p:nvSpPr>
          <p:cNvPr id="176" name="Google Shape;176;p12"/>
          <p:cNvSpPr txBox="1"/>
          <p:nvPr>
            <p:ph idx="1" type="body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pl-PL"/>
              <a:t>Śmierć Seneki </a:t>
            </a:r>
            <a:r>
              <a:rPr lang="pl-PL" u="sng">
                <a:solidFill>
                  <a:schemeClr val="hlink"/>
                </a:solidFill>
                <a:hlinkClick r:id="rId3"/>
              </a:rPr>
              <a:t>https://www.youtube.com/watch?v=6HgDwBmGoKU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pl-PL"/>
              <a:t>Ottavia Addio Roma </a:t>
            </a:r>
            <a:r>
              <a:rPr lang="pl-PL" u="sng">
                <a:solidFill>
                  <a:schemeClr val="hlink"/>
                </a:solidFill>
                <a:hlinkClick r:id="rId4"/>
              </a:rPr>
              <a:t>https://www.youtube.com/watch?v=-_I0yVAuk_s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pl-PL"/>
              <a:t>Druzilla Felice cor mio </a:t>
            </a:r>
            <a:r>
              <a:rPr lang="pl-PL" u="sng">
                <a:solidFill>
                  <a:schemeClr val="hlink"/>
                </a:solidFill>
                <a:hlinkClick r:id="rId5"/>
              </a:rPr>
              <a:t>https://www.youtube.com/watch?v=o4gVQcAxLg4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pl-PL"/>
              <a:t>Pur ti miro </a:t>
            </a:r>
            <a:r>
              <a:rPr lang="pl-PL" u="sng">
                <a:solidFill>
                  <a:schemeClr val="hlink"/>
                </a:solidFill>
                <a:hlinkClick r:id="rId6"/>
              </a:rPr>
              <a:t>https://www.youtube.com/watch?v=5nbBr3G_xxE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pl-PL"/>
              <a:t>Arnalta </a:t>
            </a:r>
            <a:r>
              <a:rPr lang="pl-PL" u="sng">
                <a:solidFill>
                  <a:schemeClr val="hlink"/>
                </a:solidFill>
                <a:hlinkClick r:id="rId7"/>
              </a:rPr>
              <a:t>https://www.youtube.com/watch?v=NAz7EOkAHbY</a:t>
            </a:r>
            <a:endParaRPr/>
          </a:p>
          <a:p>
            <a:pPr indent="-74929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rewniana czcionka">
  <a:themeElements>
    <a:clrScheme name="Wood Type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1EA736F3E4807409FC2AD1DF131DC97" ma:contentTypeVersion="7" ma:contentTypeDescription="Utwórz nowy dokument." ma:contentTypeScope="" ma:versionID="2f65554e001a104de1e837ede77d9b54">
  <xsd:schema xmlns:xsd="http://www.w3.org/2001/XMLSchema" xmlns:xs="http://www.w3.org/2001/XMLSchema" xmlns:p="http://schemas.microsoft.com/office/2006/metadata/properties" xmlns:ns2="d69dc642-48f7-4e58-8e1f-5ae592413238" targetNamespace="http://schemas.microsoft.com/office/2006/metadata/properties" ma:root="true" ma:fieldsID="7eb54fb987e1b7a686c2de0228e15e3b" ns2:_="">
    <xsd:import namespace="d69dc642-48f7-4e58-8e1f-5ae59241323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9dc642-48f7-4e58-8e1f-5ae59241323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0044AFC-9004-46A9-A322-C34CCFF34AEB}"/>
</file>

<file path=customXml/itemProps2.xml><?xml version="1.0" encoding="utf-8"?>
<ds:datastoreItem xmlns:ds="http://schemas.openxmlformats.org/officeDocument/2006/customXml" ds:itemID="{123D5DB6-E93B-432B-A00E-C2312944FEEC}"/>
</file>

<file path=customXml/itemProps3.xml><?xml version="1.0" encoding="utf-8"?>
<ds:datastoreItem xmlns:ds="http://schemas.openxmlformats.org/officeDocument/2006/customXml" ds:itemID="{CAFEB22A-1615-4321-ABC4-C8FC4E23F85A}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Magdalena Walter-Mazur</dc:creator>
  <dcterms:created xsi:type="dcterms:W3CDTF">2025-04-08T11:28:27Z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0x010100F1EA736F3E4807409FC2AD1DF131DC97</vt:lpwstr>
  </property>
</Properties>
</file>