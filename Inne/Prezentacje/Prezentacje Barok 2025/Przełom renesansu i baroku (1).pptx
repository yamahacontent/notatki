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1" r:id="rId6"/>
    <p:sldId id="260" r:id="rId7"/>
  </p:sldIdLst>
  <p:sldSz cx="9144000" cy="6858000" type="screen4x3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7" d="100"/>
          <a:sy n="47" d="100"/>
        </p:scale>
        <p:origin x="1066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6A655-5BB1-4E06-84B9-83773EE85053}" type="datetimeFigureOut">
              <a:rPr lang="pl-PL" smtClean="0"/>
              <a:t>27.02.2023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4815D-57FA-481A-A40D-1BA8858F563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90698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6A655-5BB1-4E06-84B9-83773EE85053}" type="datetimeFigureOut">
              <a:rPr lang="pl-PL" smtClean="0"/>
              <a:t>27.02.2023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4815D-57FA-481A-A40D-1BA8858F563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87445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6A655-5BB1-4E06-84B9-83773EE85053}" type="datetimeFigureOut">
              <a:rPr lang="pl-PL" smtClean="0"/>
              <a:t>27.02.2023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4815D-57FA-481A-A40D-1BA8858F563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82604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6A655-5BB1-4E06-84B9-83773EE85053}" type="datetimeFigureOut">
              <a:rPr lang="pl-PL" smtClean="0"/>
              <a:t>27.02.2023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4815D-57FA-481A-A40D-1BA8858F563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13300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6A655-5BB1-4E06-84B9-83773EE85053}" type="datetimeFigureOut">
              <a:rPr lang="pl-PL" smtClean="0"/>
              <a:t>27.02.2023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4815D-57FA-481A-A40D-1BA8858F563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55566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6A655-5BB1-4E06-84B9-83773EE85053}" type="datetimeFigureOut">
              <a:rPr lang="pl-PL" smtClean="0"/>
              <a:t>27.02.2023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4815D-57FA-481A-A40D-1BA8858F563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19514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6A655-5BB1-4E06-84B9-83773EE85053}" type="datetimeFigureOut">
              <a:rPr lang="pl-PL" smtClean="0"/>
              <a:t>27.02.2023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4815D-57FA-481A-A40D-1BA8858F563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53266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6A655-5BB1-4E06-84B9-83773EE85053}" type="datetimeFigureOut">
              <a:rPr lang="pl-PL" smtClean="0"/>
              <a:t>27.02.2023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4815D-57FA-481A-A40D-1BA8858F563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32129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6A655-5BB1-4E06-84B9-83773EE85053}" type="datetimeFigureOut">
              <a:rPr lang="pl-PL" smtClean="0"/>
              <a:t>27.02.2023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4815D-57FA-481A-A40D-1BA8858F563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82319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6A655-5BB1-4E06-84B9-83773EE85053}" type="datetimeFigureOut">
              <a:rPr lang="pl-PL" smtClean="0"/>
              <a:t>27.02.2023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4815D-57FA-481A-A40D-1BA8858F563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46957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6A655-5BB1-4E06-84B9-83773EE85053}" type="datetimeFigureOut">
              <a:rPr lang="pl-PL" smtClean="0"/>
              <a:t>27.02.2023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4815D-57FA-481A-A40D-1BA8858F563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55292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86A655-5BB1-4E06-84B9-83773EE85053}" type="datetimeFigureOut">
              <a:rPr lang="pl-PL" smtClean="0"/>
              <a:t>27.02.2023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A4815D-57FA-481A-A40D-1BA8858F563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53999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Przełom renesansu i baroku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303879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Świadomość istnienia różnych stylów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l-PL" dirty="0"/>
              <a:t>G. M. Artusi </a:t>
            </a:r>
            <a:r>
              <a:rPr lang="pl-PL" dirty="0" err="1"/>
              <a:t>overo</a:t>
            </a:r>
            <a:r>
              <a:rPr lang="pl-PL" dirty="0"/>
              <a:t> </a:t>
            </a:r>
            <a:r>
              <a:rPr lang="pl-PL" dirty="0" err="1"/>
              <a:t>delle</a:t>
            </a:r>
            <a:r>
              <a:rPr lang="pl-PL" dirty="0"/>
              <a:t> </a:t>
            </a:r>
            <a:r>
              <a:rPr lang="pl-PL" dirty="0" err="1"/>
              <a:t>imperfettioni</a:t>
            </a:r>
            <a:r>
              <a:rPr lang="pl-PL" dirty="0"/>
              <a:t> </a:t>
            </a:r>
            <a:r>
              <a:rPr lang="pl-PL" dirty="0" err="1"/>
              <a:t>della</a:t>
            </a:r>
            <a:r>
              <a:rPr lang="pl-PL" dirty="0"/>
              <a:t> moderna </a:t>
            </a:r>
            <a:r>
              <a:rPr lang="pl-PL" dirty="0" err="1"/>
              <a:t>musoica</a:t>
            </a:r>
            <a:r>
              <a:rPr lang="pl-PL" dirty="0"/>
              <a:t>, </a:t>
            </a:r>
            <a:r>
              <a:rPr lang="pl-PL" dirty="0" err="1"/>
              <a:t>Venezia</a:t>
            </a:r>
            <a:r>
              <a:rPr lang="pl-PL" dirty="0"/>
              <a:t> 1600</a:t>
            </a:r>
          </a:p>
          <a:p>
            <a:r>
              <a:rPr lang="pl-PL" dirty="0"/>
              <a:t>Cl. Monteverdi, G. C. Monteverdi (1605, 1607): </a:t>
            </a:r>
            <a:r>
              <a:rPr lang="pl-PL" i="1" dirty="0"/>
              <a:t>prima i </a:t>
            </a:r>
            <a:r>
              <a:rPr lang="pl-PL" i="1" dirty="0" err="1"/>
              <a:t>seconda</a:t>
            </a:r>
            <a:r>
              <a:rPr lang="pl-PL" i="1" dirty="0"/>
              <a:t> </a:t>
            </a:r>
            <a:r>
              <a:rPr lang="pl-PL" i="1" dirty="0" err="1"/>
              <a:t>prattica</a:t>
            </a:r>
            <a:r>
              <a:rPr lang="pl-PL" i="1" dirty="0"/>
              <a:t> (stile </a:t>
            </a:r>
            <a:r>
              <a:rPr lang="pl-PL" i="1" dirty="0" err="1"/>
              <a:t>antico</a:t>
            </a:r>
            <a:r>
              <a:rPr lang="pl-PL" i="1" dirty="0"/>
              <a:t> et moderno, stylus </a:t>
            </a:r>
            <a:r>
              <a:rPr lang="pl-PL" i="1" dirty="0" err="1"/>
              <a:t>gravis</a:t>
            </a:r>
            <a:r>
              <a:rPr lang="pl-PL" i="1" dirty="0"/>
              <a:t> – stylus </a:t>
            </a:r>
            <a:r>
              <a:rPr lang="pl-PL" i="1" dirty="0" err="1"/>
              <a:t>luxurians</a:t>
            </a:r>
            <a:r>
              <a:rPr lang="pl-PL" i="1" dirty="0"/>
              <a:t>)</a:t>
            </a:r>
          </a:p>
          <a:p>
            <a:r>
              <a:rPr lang="pl-PL" dirty="0"/>
              <a:t>M. </a:t>
            </a:r>
            <a:r>
              <a:rPr lang="pl-PL" dirty="0" err="1"/>
              <a:t>Scacchi</a:t>
            </a:r>
            <a:r>
              <a:rPr lang="pl-PL" dirty="0"/>
              <a:t> (1643), G. </a:t>
            </a:r>
            <a:r>
              <a:rPr lang="pl-PL" dirty="0" err="1"/>
              <a:t>Barardi</a:t>
            </a:r>
            <a:r>
              <a:rPr lang="pl-PL" dirty="0"/>
              <a:t> (1689):</a:t>
            </a:r>
          </a:p>
          <a:p>
            <a:pPr marL="0" indent="0">
              <a:buNone/>
            </a:pPr>
            <a:r>
              <a:rPr lang="pl-PL" dirty="0"/>
              <a:t>Stylus </a:t>
            </a:r>
            <a:r>
              <a:rPr lang="pl-PL" dirty="0" err="1"/>
              <a:t>ecclesiasticus</a:t>
            </a:r>
            <a:r>
              <a:rPr lang="pl-PL" dirty="0"/>
              <a:t>, </a:t>
            </a:r>
            <a:r>
              <a:rPr lang="pl-PL" dirty="0" err="1"/>
              <a:t>cubicularis</a:t>
            </a:r>
            <a:r>
              <a:rPr lang="pl-PL" dirty="0"/>
              <a:t>, </a:t>
            </a:r>
            <a:r>
              <a:rPr lang="pl-PL" dirty="0" err="1"/>
              <a:t>theatralis</a:t>
            </a:r>
            <a:r>
              <a:rPr lang="pl-PL" dirty="0"/>
              <a:t> (podział funkcjonalno-gatunkowy), style</a:t>
            </a:r>
          </a:p>
          <a:p>
            <a:pPr marL="0" indent="0">
              <a:buNone/>
            </a:pPr>
            <a:r>
              <a:rPr lang="pl-PL" dirty="0"/>
              <a:t>wewnętrznie dzielące się dalej według m.in. obsady.</a:t>
            </a:r>
          </a:p>
        </p:txBody>
      </p:sp>
    </p:spTree>
    <p:extLst>
      <p:ext uri="{BB962C8B-B14F-4D97-AF65-F5344CB8AC3E}">
        <p14:creationId xmlns:p14="http://schemas.microsoft.com/office/powerpoint/2010/main" val="2432518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Podstawy estetyczne </a:t>
            </a:r>
            <a:r>
              <a:rPr lang="pl-PL" dirty="0" err="1"/>
              <a:t>seconda</a:t>
            </a:r>
            <a:r>
              <a:rPr lang="pl-PL" dirty="0"/>
              <a:t> </a:t>
            </a:r>
            <a:r>
              <a:rPr lang="pl-PL" dirty="0" err="1"/>
              <a:t>prattica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Platon: melodia z trzech rzeczy się składa: mowy, harmonii i rytmu;</a:t>
            </a:r>
          </a:p>
          <a:p>
            <a:r>
              <a:rPr lang="pl-PL" dirty="0"/>
              <a:t>Mowa ma być Panią harmonii, a nie sługą</a:t>
            </a:r>
          </a:p>
        </p:txBody>
      </p:sp>
    </p:spTree>
    <p:extLst>
      <p:ext uri="{BB962C8B-B14F-4D97-AF65-F5344CB8AC3E}">
        <p14:creationId xmlns:p14="http://schemas.microsoft.com/office/powerpoint/2010/main" val="2184862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Krytyka kontrapunktu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Vincenzo Galilei „</a:t>
            </a:r>
            <a:r>
              <a:rPr lang="pl-PL" dirty="0" err="1"/>
              <a:t>Dialogo</a:t>
            </a:r>
            <a:r>
              <a:rPr lang="pl-PL" dirty="0"/>
              <a:t> </a:t>
            </a:r>
            <a:r>
              <a:rPr lang="pl-PL" dirty="0" err="1"/>
              <a:t>della</a:t>
            </a:r>
            <a:r>
              <a:rPr lang="pl-PL" dirty="0"/>
              <a:t> </a:t>
            </a:r>
            <a:r>
              <a:rPr lang="pl-PL" dirty="0" err="1"/>
              <a:t>musica</a:t>
            </a:r>
            <a:r>
              <a:rPr lang="pl-PL" dirty="0"/>
              <a:t> </a:t>
            </a:r>
            <a:r>
              <a:rPr lang="pl-PL" dirty="0" err="1"/>
              <a:t>antica</a:t>
            </a:r>
            <a:r>
              <a:rPr lang="pl-PL" dirty="0"/>
              <a:t> e </a:t>
            </a:r>
            <a:r>
              <a:rPr lang="pl-PL" dirty="0" err="1"/>
              <a:t>della</a:t>
            </a:r>
            <a:r>
              <a:rPr lang="pl-PL" dirty="0"/>
              <a:t> moderna” 1589</a:t>
            </a:r>
          </a:p>
        </p:txBody>
      </p:sp>
    </p:spTree>
    <p:extLst>
      <p:ext uri="{BB962C8B-B14F-4D97-AF65-F5344CB8AC3E}">
        <p14:creationId xmlns:p14="http://schemas.microsoft.com/office/powerpoint/2010/main" val="416922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Rozwój wirtuozerii wokalnej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Praktyka wykonywania utworów polifonicznych solowo z towarzyszeniem instrumentu harmonicznego „zastępującego” pozostałe głosy;</a:t>
            </a:r>
          </a:p>
          <a:p>
            <a:pPr marL="0" indent="0">
              <a:buNone/>
            </a:pPr>
            <a:r>
              <a:rPr lang="pl-PL" dirty="0"/>
              <a:t>(Lodovico da </a:t>
            </a:r>
            <a:r>
              <a:rPr lang="pl-PL" dirty="0" err="1"/>
              <a:t>Viadana</a:t>
            </a:r>
            <a:r>
              <a:rPr lang="pl-PL" dirty="0"/>
              <a:t>: „</a:t>
            </a:r>
            <a:r>
              <a:rPr lang="pl-PL" dirty="0" err="1"/>
              <a:t>Centi</a:t>
            </a:r>
            <a:r>
              <a:rPr lang="pl-PL" dirty="0"/>
              <a:t> </a:t>
            </a:r>
            <a:r>
              <a:rPr lang="pl-PL" dirty="0" err="1"/>
              <a:t>concerti</a:t>
            </a:r>
            <a:r>
              <a:rPr lang="pl-PL" dirty="0"/>
              <a:t> </a:t>
            </a:r>
            <a:r>
              <a:rPr lang="pl-PL" dirty="0" err="1"/>
              <a:t>ecclesiastici</a:t>
            </a:r>
            <a:r>
              <a:rPr lang="pl-PL" dirty="0"/>
              <a:t>” 1602).</a:t>
            </a:r>
          </a:p>
        </p:txBody>
      </p:sp>
    </p:spTree>
    <p:extLst>
      <p:ext uri="{BB962C8B-B14F-4D97-AF65-F5344CB8AC3E}">
        <p14:creationId xmlns:p14="http://schemas.microsoft.com/office/powerpoint/2010/main" val="4041591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Konfrontacja stylistyczna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pl-PL" dirty="0"/>
              <a:t>Polifonia – linearyzm vs faktura </a:t>
            </a:r>
            <a:r>
              <a:rPr lang="pl-PL" dirty="0" err="1"/>
              <a:t>ncn</a:t>
            </a:r>
            <a:r>
              <a:rPr lang="pl-PL" dirty="0"/>
              <a:t> i monodia - wertykalizm</a:t>
            </a:r>
          </a:p>
          <a:p>
            <a:r>
              <a:rPr lang="pl-PL" dirty="0"/>
              <a:t>Traktowanie dysonansów;</a:t>
            </a:r>
          </a:p>
          <a:p>
            <a:r>
              <a:rPr lang="pl-PL" dirty="0"/>
              <a:t>Faktura: równouprawnienie głosów vs biegunowość basu i sopranu;</a:t>
            </a:r>
          </a:p>
          <a:p>
            <a:r>
              <a:rPr lang="pl-PL" dirty="0"/>
              <a:t>Szczególna rola basso </a:t>
            </a:r>
            <a:r>
              <a:rPr lang="pl-PL" dirty="0" err="1"/>
              <a:t>continuo</a:t>
            </a:r>
            <a:r>
              <a:rPr lang="pl-PL" dirty="0"/>
              <a:t>: tworzenie podstawy harmonicznej „uwalnia” pozostałe głosy;</a:t>
            </a:r>
          </a:p>
          <a:p>
            <a:r>
              <a:rPr lang="pl-PL" dirty="0"/>
              <a:t>Nowa, swobodna rytmika regulowana przez mowę, oraz rytmika „mechaniczna”, taneczna</a:t>
            </a:r>
          </a:p>
          <a:p>
            <a:r>
              <a:rPr lang="pl-PL" dirty="0"/>
              <a:t>Zróżnicowanie faktury wokalnej i instrumentalnej</a:t>
            </a:r>
          </a:p>
        </p:txBody>
      </p:sp>
    </p:spTree>
    <p:extLst>
      <p:ext uri="{BB962C8B-B14F-4D97-AF65-F5344CB8AC3E}">
        <p14:creationId xmlns:p14="http://schemas.microsoft.com/office/powerpoint/2010/main" val="1746917482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1EA736F3E4807409FC2AD1DF131DC97" ma:contentTypeVersion="4" ma:contentTypeDescription="Utwórz nowy dokument." ma:contentTypeScope="" ma:versionID="62f6f3bbf6e7b2b06dc3a172d813ca74">
  <xsd:schema xmlns:xsd="http://www.w3.org/2001/XMLSchema" xmlns:xs="http://www.w3.org/2001/XMLSchema" xmlns:p="http://schemas.microsoft.com/office/2006/metadata/properties" xmlns:ns2="d69dc642-48f7-4e58-8e1f-5ae592413238" targetNamespace="http://schemas.microsoft.com/office/2006/metadata/properties" ma:root="true" ma:fieldsID="ca5d59b4953e6095b4ea946cb20e85bd" ns2:_="">
    <xsd:import namespace="d69dc642-48f7-4e58-8e1f-5ae59241323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9dc642-48f7-4e58-8e1f-5ae5924132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C749CCD-48B9-42E2-9CD3-A00EE4577BF9}"/>
</file>

<file path=customXml/itemProps2.xml><?xml version="1.0" encoding="utf-8"?>
<ds:datastoreItem xmlns:ds="http://schemas.openxmlformats.org/officeDocument/2006/customXml" ds:itemID="{5700BB14-5DB1-4872-876D-0DFB172E39A5}"/>
</file>

<file path=customXml/itemProps3.xml><?xml version="1.0" encoding="utf-8"?>
<ds:datastoreItem xmlns:ds="http://schemas.openxmlformats.org/officeDocument/2006/customXml" ds:itemID="{1F6EBA6A-19D5-476F-94AA-21CBCD177A83}"/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216</Words>
  <Application>Microsoft Office PowerPoint</Application>
  <PresentationFormat>Pokaz na ekranie (4:3)</PresentationFormat>
  <Paragraphs>22</Paragraphs>
  <Slides>6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6</vt:i4>
      </vt:variant>
    </vt:vector>
  </HeadingPairs>
  <TitlesOfParts>
    <vt:vector size="9" baseType="lpstr">
      <vt:lpstr>Arial</vt:lpstr>
      <vt:lpstr>Calibri</vt:lpstr>
      <vt:lpstr>Motyw pakietu Office</vt:lpstr>
      <vt:lpstr>Przełom renesansu i baroku</vt:lpstr>
      <vt:lpstr>Świadomość istnienia różnych stylów</vt:lpstr>
      <vt:lpstr>Podstawy estetyczne seconda prattica</vt:lpstr>
      <vt:lpstr>Krytyka kontrapunktu</vt:lpstr>
      <vt:lpstr>Rozwój wirtuozerii wokalnej</vt:lpstr>
      <vt:lpstr>Konfrontacja stylistyczna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Przełom renesansu i baroku</dc:title>
  <dc:creator>Magda i Tomek</dc:creator>
  <cp:lastModifiedBy>Magdalena Walter-Mazur</cp:lastModifiedBy>
  <cp:revision>7</cp:revision>
  <dcterms:created xsi:type="dcterms:W3CDTF">2021-03-03T16:20:22Z</dcterms:created>
  <dcterms:modified xsi:type="dcterms:W3CDTF">2023-02-27T19:00:38Z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0x010100F1EA736F3E4807409FC2AD1DF131DC97</vt:lpwstr>
  </property>
</Properties>
</file>